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>
              <a:lnSpc>
                <a:spcPct val="90000"/>
              </a:lnSpc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move the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90EC2D4-81F8-4DB8-8F18-73D483987AD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0:00–0:42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Name, Wade College, IT &amp; Cybersecurity, graduation Sept 2026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Goal: entry-level SOC Analyst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Portfolio = practical projects + programming + documentation + business problem-solving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Tagline: protect systems, solve problems, keep learning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0:42–1:23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Detail-oriented — organizations depend on secure systems and people who notice problems early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 experience: reliability, process discipline, teamwork, and documentation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Technical areas: risk assessment, threat and vulnerability management, network security, web app security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Also: Linux, cryptography, database security, Python, SQL, incident response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1:23–1:52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SOC Analyst: monitors systems, investigates alerts, prioritizes risk, communicates findings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Projects show risk-based thinking, investigation, and remediation planning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 projects total: 6 cybersecurity case studies + 2 programming/e-commerce projects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1:52–2:57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Logistics company: 150 employees across 3 office locations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Identified assets, threats, vulnerabilities, and business impact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Controls: MFA, EDR, network segmentation, SIEM, patching, backup and disaster recovery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 point: prioritizing risk and building a roadmap, not just naming tools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Roadmap: contain highest risks → detect and harden → validate controls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2:57–3:48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Protecting healthcare information: confidentiality, integrity, and availability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TLS 1.3 for data in transit; AES-256-GCM for sensitive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PKI for certificates, secure key management, and IPsec VPN between locations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Tied to HIPAA and HITECH requirements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Lesson: encryption must be managed through the full key and certificate lifecycle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3:48–4:35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Secure PostgreSQL database for a healthcare clinic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RBAC and least privilege, encryption at rest, and encrypted connections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Audit logging, backups, and recovery planning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Staff access only what their job needs — reduces risk and supports privacy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Lesson: weak access control and poor logging can lead to incidents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4:35–5:28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E-commerce app reviewed against the OWASP Top 10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Risks: broken access control, injection, XSS, weak authentication, insufficient logging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Remediation: MFA, stronger access controls, input validation, SAST/DAST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Also: logging, monitoring, and a web application firewall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Why it matters for SOC: web weaknesses lead to alerts, incidents, and business impact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5:28–6:19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lifecycle: discover → prioritize → remediate → verify → report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Prioritized with CVSS scoring, asset importance, exploitability, and business impact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 every vulnerability is equal — a repeatable process focuses on what matters most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Closest project to day-to-day SOC work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6:19–7:09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Raspberry Pi + sensors, MQTT over TLS, and a cloud dashboard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Threshold-based alerts when values leave a safe range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Security focus: data in transit, secure device communication, encrypted alerts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Lesson: every connected device is useful data and a new security risk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7:09–7:55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Programming I project — Python + Tkinter desktop app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Add, edit, delete, filter, sort, and search expenses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JSON storage, input validation, category totals, and CSV export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Shows practical software and data-handling skills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7:55–8:36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Shopify e-commerce project: brand storytelling, product organization, mobile usability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E-commerce security awareness: secure checkout, MFA, and privacy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Bridges technical and business needs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Connects to RetailHub: online stores must protect customers, data, payments, and trust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8:36–9:08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Brings all 8 projects together on one site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Recruiters can review project pages, documentation, diagrams, a live practice demo, GitHub work, and the MAKEDA showcase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Each project: problem → approach → tools/concepts → outcome or recommendation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Goal: easy to explore and easy to understand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9:08–9:32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Completing the Google Cybersecurity Professional Certificate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Preparing for CompTIA Security+ next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Next: more SOC-focused projects and sharper incident response and monitoring skills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Goal: contribute to a cybersecurity team in Dallas–Fort Worth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9:32–10:00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Portfolio = more than school assignments — it is career preparation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Ready to learn from experienced professionals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Bring strong documentation and attention to detail as a SOC Analyst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Thank the audience and invite questions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lnSpc>
                <a:spcPct val="90000"/>
              </a:lnSpc>
              <a:buNone/>
            </a:pP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-panel"/>
          <p:cNvSpPr/>
          <p:nvPr/>
        </p:nvSpPr>
        <p:spPr>
          <a:xfrm>
            <a:off x="571680" y="533520"/>
            <a:ext cx="11048760" cy="5790960"/>
          </a:xfrm>
          <a:prstGeom prst="roundRect">
            <a:avLst>
              <a:gd name="adj" fmla="val 2632"/>
            </a:avLst>
          </a:prstGeom>
          <a:solidFill>
            <a:srgbClr val="102B55"/>
          </a:solidFill>
          <a:ln w="9525">
            <a:solidFill>
              <a:srgbClr val="2846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portfolio-label"/>
          <p:cNvSpPr/>
          <p:nvPr/>
        </p:nvSpPr>
        <p:spPr>
          <a:xfrm>
            <a:off x="990720" y="905040"/>
            <a:ext cx="604800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050" b="1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AYALEW CHERENET  |  IT &amp; CYBERSECURITY PORTFOLIO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card-number"/>
          <p:cNvSpPr/>
          <p:nvPr/>
        </p:nvSpPr>
        <p:spPr>
          <a:xfrm>
            <a:off x="990720" y="1276200"/>
            <a:ext cx="152352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</a:rPr>
              <a:t>CARD 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iming"/>
          <p:cNvSpPr/>
          <p:nvPr/>
        </p:nvSpPr>
        <p:spPr>
          <a:xfrm>
            <a:off x="9620280" y="1276200"/>
            <a:ext cx="14284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1200" b="1" u="none" strike="noStrike">
                <a:solidFill>
                  <a:srgbClr val="55C7F1"/>
                </a:solidFill>
                <a:effectLst/>
                <a:uFillTx/>
                <a:latin typeface="Arial"/>
              </a:rPr>
              <a:t>0:00–0:42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accent-bar"/>
          <p:cNvSpPr/>
          <p:nvPr/>
        </p:nvSpPr>
        <p:spPr>
          <a:xfrm>
            <a:off x="990720" y="1676520"/>
            <a:ext cx="590040" cy="471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1520" rIns="90000" bIns="-115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slide-title"/>
          <p:cNvSpPr/>
          <p:nvPr/>
        </p:nvSpPr>
        <p:spPr>
          <a:xfrm>
            <a:off x="990720" y="1952640"/>
            <a:ext cx="876276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3000" b="1" u="none" strike="noStrike">
                <a:solidFill>
                  <a:srgbClr val="F7FBFF"/>
                </a:solidFill>
                <a:effectLst/>
                <a:uFillTx/>
                <a:latin typeface="Arial"/>
              </a:rPr>
              <a:t>Opening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cue-label"/>
          <p:cNvSpPr/>
          <p:nvPr/>
        </p:nvSpPr>
        <p:spPr>
          <a:xfrm>
            <a:off x="990720" y="3162240"/>
            <a:ext cx="24760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</a:rPr>
              <a:t>WHAT TO SAY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cue-dot-0"/>
          <p:cNvSpPr/>
          <p:nvPr/>
        </p:nvSpPr>
        <p:spPr>
          <a:xfrm>
            <a:off x="1028880" y="367668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cue-0"/>
          <p:cNvSpPr/>
          <p:nvPr/>
        </p:nvSpPr>
        <p:spPr>
          <a:xfrm>
            <a:off x="1333440" y="356220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Name, Wade College, IT &amp; Cybersecurity, graduation Sept 2026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cue-dot-1"/>
          <p:cNvSpPr/>
          <p:nvPr/>
        </p:nvSpPr>
        <p:spPr>
          <a:xfrm>
            <a:off x="1028880" y="427680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cue-1"/>
          <p:cNvSpPr/>
          <p:nvPr/>
        </p:nvSpPr>
        <p:spPr>
          <a:xfrm>
            <a:off x="1333440" y="416232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Goal: entry-level SOC Analyst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cue-dot-2"/>
          <p:cNvSpPr/>
          <p:nvPr/>
        </p:nvSpPr>
        <p:spPr>
          <a:xfrm>
            <a:off x="1028880" y="487692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cue-2"/>
          <p:cNvSpPr/>
          <p:nvPr/>
        </p:nvSpPr>
        <p:spPr>
          <a:xfrm>
            <a:off x="1333440" y="476244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Portfolio = practical projects + programming + documentation + business problem-solving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cue-dot-3"/>
          <p:cNvSpPr/>
          <p:nvPr/>
        </p:nvSpPr>
        <p:spPr>
          <a:xfrm>
            <a:off x="1028880" y="547704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cue-3"/>
          <p:cNvSpPr/>
          <p:nvPr/>
        </p:nvSpPr>
        <p:spPr>
          <a:xfrm>
            <a:off x="1333440" y="536256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Tagline: protect systems, solve problems, keep learning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page-number"/>
          <p:cNvSpPr/>
          <p:nvPr/>
        </p:nvSpPr>
        <p:spPr>
          <a:xfrm>
            <a:off x="10001160" y="4467240"/>
            <a:ext cx="104724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2320" b="1" u="none" strike="noStrike">
                <a:solidFill>
                  <a:srgbClr val="6F88AB"/>
                </a:solidFill>
                <a:effectLst/>
                <a:uFillTx/>
                <a:latin typeface="Arial"/>
              </a:rPr>
              <a:t>01 / 14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footer"/>
          <p:cNvSpPr/>
          <p:nvPr/>
        </p:nvSpPr>
        <p:spPr>
          <a:xfrm>
            <a:off x="990720" y="5867280"/>
            <a:ext cx="457164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980" b="0" u="none" strike="noStrike">
                <a:solidFill>
                  <a:srgbClr val="6F88AB"/>
                </a:solidFill>
                <a:effectLst/>
                <a:uFillTx/>
                <a:latin typeface="Arial"/>
              </a:rPr>
              <a:t>Presentation Flashcards  •  10-minute talk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ntent-panel"/>
          <p:cNvSpPr/>
          <p:nvPr/>
        </p:nvSpPr>
        <p:spPr>
          <a:xfrm>
            <a:off x="571680" y="533520"/>
            <a:ext cx="11048760" cy="5790960"/>
          </a:xfrm>
          <a:prstGeom prst="roundRect">
            <a:avLst>
              <a:gd name="adj" fmla="val 2632"/>
            </a:avLst>
          </a:prstGeom>
          <a:solidFill>
            <a:srgbClr val="102B55"/>
          </a:solidFill>
          <a:ln w="9525">
            <a:solidFill>
              <a:srgbClr val="2846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portfolio-label"/>
          <p:cNvSpPr/>
          <p:nvPr/>
        </p:nvSpPr>
        <p:spPr>
          <a:xfrm>
            <a:off x="990720" y="905040"/>
            <a:ext cx="604800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050" b="1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AYALEW CHERENET  |  IT &amp; CYBERSECURITY PORTFOLIO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card-number"/>
          <p:cNvSpPr/>
          <p:nvPr/>
        </p:nvSpPr>
        <p:spPr>
          <a:xfrm>
            <a:off x="990720" y="1276200"/>
            <a:ext cx="152352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</a:rPr>
              <a:t>CARD 02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iming"/>
          <p:cNvSpPr/>
          <p:nvPr/>
        </p:nvSpPr>
        <p:spPr>
          <a:xfrm>
            <a:off x="9620280" y="1276200"/>
            <a:ext cx="14284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1200" b="1" u="none" strike="noStrike">
                <a:solidFill>
                  <a:srgbClr val="55C7F1"/>
                </a:solidFill>
                <a:effectLst/>
                <a:uFillTx/>
                <a:latin typeface="Arial"/>
              </a:rPr>
              <a:t>0:42–1:23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accent-bar"/>
          <p:cNvSpPr/>
          <p:nvPr/>
        </p:nvSpPr>
        <p:spPr>
          <a:xfrm>
            <a:off x="990720" y="1676520"/>
            <a:ext cx="590040" cy="471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1520" rIns="90000" bIns="-115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lide-title"/>
          <p:cNvSpPr/>
          <p:nvPr/>
        </p:nvSpPr>
        <p:spPr>
          <a:xfrm>
            <a:off x="990720" y="1952640"/>
            <a:ext cx="876276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3000" b="1" u="none" strike="noStrike">
                <a:solidFill>
                  <a:srgbClr val="F7FBFF"/>
                </a:solidFill>
                <a:effectLst/>
                <a:uFillTx/>
                <a:latin typeface="Arial"/>
              </a:rPr>
              <a:t>About Me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cue-label"/>
          <p:cNvSpPr/>
          <p:nvPr/>
        </p:nvSpPr>
        <p:spPr>
          <a:xfrm>
            <a:off x="990720" y="3162240"/>
            <a:ext cx="24760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</a:rPr>
              <a:t>WHAT TO SAY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cue-dot-0"/>
          <p:cNvSpPr/>
          <p:nvPr/>
        </p:nvSpPr>
        <p:spPr>
          <a:xfrm>
            <a:off x="1028880" y="367668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cue-0"/>
          <p:cNvSpPr/>
          <p:nvPr/>
        </p:nvSpPr>
        <p:spPr>
          <a:xfrm>
            <a:off x="1333440" y="356220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Detail-oriented — organizations depend on secure systems and people who notice problems early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cue-dot-1"/>
          <p:cNvSpPr/>
          <p:nvPr/>
        </p:nvSpPr>
        <p:spPr>
          <a:xfrm>
            <a:off x="1028880" y="427680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cue-1"/>
          <p:cNvSpPr/>
          <p:nvPr/>
        </p:nvSpPr>
        <p:spPr>
          <a:xfrm>
            <a:off x="1333440" y="416232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Work experience: reliability, process discipline, teamwork, and documentation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cue-dot-2"/>
          <p:cNvSpPr/>
          <p:nvPr/>
        </p:nvSpPr>
        <p:spPr>
          <a:xfrm>
            <a:off x="1028880" y="487692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cue-2"/>
          <p:cNvSpPr/>
          <p:nvPr/>
        </p:nvSpPr>
        <p:spPr>
          <a:xfrm>
            <a:off x="1333440" y="476244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Technical areas: risk assessment, threat and vulnerability management, network security, web app security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cue-dot-3"/>
          <p:cNvSpPr/>
          <p:nvPr/>
        </p:nvSpPr>
        <p:spPr>
          <a:xfrm>
            <a:off x="1028880" y="547704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cue-3"/>
          <p:cNvSpPr/>
          <p:nvPr/>
        </p:nvSpPr>
        <p:spPr>
          <a:xfrm>
            <a:off x="1333440" y="536256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Also: Linux, cryptography, database security, Python, SQL, incident response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page-number"/>
          <p:cNvSpPr/>
          <p:nvPr/>
        </p:nvSpPr>
        <p:spPr>
          <a:xfrm>
            <a:off x="10001160" y="4467240"/>
            <a:ext cx="104724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2320" b="1" u="none" strike="noStrike">
                <a:solidFill>
                  <a:srgbClr val="6F88AB"/>
                </a:solidFill>
                <a:effectLst/>
                <a:uFillTx/>
                <a:latin typeface="Arial"/>
              </a:rPr>
              <a:t>02 / 14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footer"/>
          <p:cNvSpPr/>
          <p:nvPr/>
        </p:nvSpPr>
        <p:spPr>
          <a:xfrm>
            <a:off x="990720" y="5867280"/>
            <a:ext cx="457164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980" b="0" u="none" strike="noStrike">
                <a:solidFill>
                  <a:srgbClr val="6F88AB"/>
                </a:solidFill>
                <a:effectLst/>
                <a:uFillTx/>
                <a:latin typeface="Arial"/>
              </a:rPr>
              <a:t>Presentation Flashcards  •  10-minute talk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content-panel"/>
          <p:cNvSpPr/>
          <p:nvPr/>
        </p:nvSpPr>
        <p:spPr>
          <a:xfrm>
            <a:off x="571680" y="533520"/>
            <a:ext cx="11048760" cy="5790960"/>
          </a:xfrm>
          <a:prstGeom prst="roundRect">
            <a:avLst>
              <a:gd name="adj" fmla="val 2632"/>
            </a:avLst>
          </a:prstGeom>
          <a:solidFill>
            <a:srgbClr val="102B55"/>
          </a:solidFill>
          <a:ln w="9525">
            <a:solidFill>
              <a:srgbClr val="2846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portfolio-label"/>
          <p:cNvSpPr/>
          <p:nvPr/>
        </p:nvSpPr>
        <p:spPr>
          <a:xfrm>
            <a:off x="990720" y="905040"/>
            <a:ext cx="604800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050" b="1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AYALEW CHERENET  |  IT &amp; CYBERSECURITY PORTFOLIO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card-number"/>
          <p:cNvSpPr/>
          <p:nvPr/>
        </p:nvSpPr>
        <p:spPr>
          <a:xfrm>
            <a:off x="990720" y="1276200"/>
            <a:ext cx="152352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</a:rPr>
              <a:t>CARD 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iming"/>
          <p:cNvSpPr/>
          <p:nvPr/>
        </p:nvSpPr>
        <p:spPr>
          <a:xfrm>
            <a:off x="9620280" y="1276200"/>
            <a:ext cx="14284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1200" b="1" u="none" strike="noStrike">
                <a:solidFill>
                  <a:srgbClr val="55C7F1"/>
                </a:solidFill>
                <a:effectLst/>
                <a:uFillTx/>
                <a:latin typeface="Arial"/>
              </a:rPr>
              <a:t>1:23–1:52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accent-bar"/>
          <p:cNvSpPr/>
          <p:nvPr/>
        </p:nvSpPr>
        <p:spPr>
          <a:xfrm>
            <a:off x="990720" y="1676520"/>
            <a:ext cx="590040" cy="471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1520" rIns="90000" bIns="-115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lide-title"/>
          <p:cNvSpPr/>
          <p:nvPr/>
        </p:nvSpPr>
        <p:spPr>
          <a:xfrm>
            <a:off x="990720" y="1952640"/>
            <a:ext cx="876276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3000" b="1" u="none" strike="noStrike">
                <a:solidFill>
                  <a:srgbClr val="F7FBFF"/>
                </a:solidFill>
                <a:effectLst/>
                <a:uFillTx/>
                <a:latin typeface="Arial"/>
              </a:rPr>
              <a:t>Why These Projects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cue-label"/>
          <p:cNvSpPr/>
          <p:nvPr/>
        </p:nvSpPr>
        <p:spPr>
          <a:xfrm>
            <a:off x="990720" y="3162240"/>
            <a:ext cx="24760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</a:rPr>
              <a:t>WHAT TO SAY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cue-dot-0"/>
          <p:cNvSpPr/>
          <p:nvPr/>
        </p:nvSpPr>
        <p:spPr>
          <a:xfrm>
            <a:off x="1028880" y="367668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cue-0"/>
          <p:cNvSpPr/>
          <p:nvPr/>
        </p:nvSpPr>
        <p:spPr>
          <a:xfrm>
            <a:off x="1333440" y="356220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SOC Analyst: monitors systems, investigates alerts, prioritizes risk, communicates findings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cue-dot-1"/>
          <p:cNvSpPr/>
          <p:nvPr/>
        </p:nvSpPr>
        <p:spPr>
          <a:xfrm>
            <a:off x="1028880" y="427680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cue-1"/>
          <p:cNvSpPr/>
          <p:nvPr/>
        </p:nvSpPr>
        <p:spPr>
          <a:xfrm>
            <a:off x="1333440" y="416232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Projects show risk-based thinking, investigation, and remediation planning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cue-dot-2"/>
          <p:cNvSpPr/>
          <p:nvPr/>
        </p:nvSpPr>
        <p:spPr>
          <a:xfrm>
            <a:off x="1028880" y="487692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cue-2"/>
          <p:cNvSpPr/>
          <p:nvPr/>
        </p:nvSpPr>
        <p:spPr>
          <a:xfrm>
            <a:off x="1333440" y="476244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8 projects total: 6 cybersecurity case studies + 2 programming/e-commerce projects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page-number"/>
          <p:cNvSpPr/>
          <p:nvPr/>
        </p:nvSpPr>
        <p:spPr>
          <a:xfrm>
            <a:off x="10001160" y="4467240"/>
            <a:ext cx="104724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2320" b="1" u="none" strike="noStrike">
                <a:solidFill>
                  <a:srgbClr val="6F88AB"/>
                </a:solidFill>
                <a:effectLst/>
                <a:uFillTx/>
                <a:latin typeface="Arial"/>
              </a:rPr>
              <a:t>03 / 14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footer"/>
          <p:cNvSpPr/>
          <p:nvPr/>
        </p:nvSpPr>
        <p:spPr>
          <a:xfrm>
            <a:off x="990720" y="5867280"/>
            <a:ext cx="457164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980" b="0" u="none" strike="noStrike">
                <a:solidFill>
                  <a:srgbClr val="6F88AB"/>
                </a:solidFill>
                <a:effectLst/>
                <a:uFillTx/>
                <a:latin typeface="Arial"/>
              </a:rPr>
              <a:t>Presentation Flashcards  •  10-minute talk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content-panel"/>
          <p:cNvSpPr/>
          <p:nvPr/>
        </p:nvSpPr>
        <p:spPr>
          <a:xfrm>
            <a:off x="571680" y="533520"/>
            <a:ext cx="11048760" cy="5790960"/>
          </a:xfrm>
          <a:prstGeom prst="roundRect">
            <a:avLst>
              <a:gd name="adj" fmla="val 2632"/>
            </a:avLst>
          </a:prstGeom>
          <a:solidFill>
            <a:srgbClr val="102B55"/>
          </a:solidFill>
          <a:ln w="9525">
            <a:solidFill>
              <a:srgbClr val="2846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portfolio-label"/>
          <p:cNvSpPr/>
          <p:nvPr/>
        </p:nvSpPr>
        <p:spPr>
          <a:xfrm>
            <a:off x="990720" y="905040"/>
            <a:ext cx="604800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050" b="1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AYALEW CHERENET  |  IT &amp; CYBERSECURITY PORTFOLIO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card-number"/>
          <p:cNvSpPr/>
          <p:nvPr/>
        </p:nvSpPr>
        <p:spPr>
          <a:xfrm>
            <a:off x="990720" y="1276200"/>
            <a:ext cx="152352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</a:rPr>
              <a:t>CARD 04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iming"/>
          <p:cNvSpPr/>
          <p:nvPr/>
        </p:nvSpPr>
        <p:spPr>
          <a:xfrm>
            <a:off x="9620280" y="1276200"/>
            <a:ext cx="14284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1200" b="1" u="none" strike="noStrike">
                <a:solidFill>
                  <a:srgbClr val="55C7F1"/>
                </a:solidFill>
                <a:effectLst/>
                <a:uFillTx/>
                <a:latin typeface="Arial"/>
              </a:rPr>
              <a:t>1:52–2:57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accent-bar"/>
          <p:cNvSpPr/>
          <p:nvPr/>
        </p:nvSpPr>
        <p:spPr>
          <a:xfrm>
            <a:off x="990720" y="1676520"/>
            <a:ext cx="590040" cy="471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1520" rIns="90000" bIns="-115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lide-title"/>
          <p:cNvSpPr/>
          <p:nvPr/>
        </p:nvSpPr>
        <p:spPr>
          <a:xfrm>
            <a:off x="990720" y="1952640"/>
            <a:ext cx="876276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3000" b="1" u="none" strike="noStrike">
                <a:solidFill>
                  <a:srgbClr val="F7FBFF"/>
                </a:solidFill>
                <a:effectLst/>
                <a:uFillTx/>
                <a:latin typeface="Arial"/>
              </a:rPr>
              <a:t>Project 1 — Northbridge Logistics Risk Assessment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cue-label"/>
          <p:cNvSpPr/>
          <p:nvPr/>
        </p:nvSpPr>
        <p:spPr>
          <a:xfrm>
            <a:off x="990720" y="3162240"/>
            <a:ext cx="24760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</a:rPr>
              <a:t>WHAT TO SAY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cue-dot-0"/>
          <p:cNvSpPr/>
          <p:nvPr/>
        </p:nvSpPr>
        <p:spPr>
          <a:xfrm>
            <a:off x="1028880" y="367668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cue-0"/>
          <p:cNvSpPr/>
          <p:nvPr/>
        </p:nvSpPr>
        <p:spPr>
          <a:xfrm>
            <a:off x="1333440" y="3562200"/>
            <a:ext cx="852444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Logistics company: 150 employees across 3 office locations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cue-dot-1"/>
          <p:cNvSpPr/>
          <p:nvPr/>
        </p:nvSpPr>
        <p:spPr>
          <a:xfrm>
            <a:off x="1028880" y="419112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cue-1"/>
          <p:cNvSpPr/>
          <p:nvPr/>
        </p:nvSpPr>
        <p:spPr>
          <a:xfrm>
            <a:off x="1333440" y="4076640"/>
            <a:ext cx="852444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Identified assets, threats, vulnerabilities, and business impact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cue-dot-2"/>
          <p:cNvSpPr/>
          <p:nvPr/>
        </p:nvSpPr>
        <p:spPr>
          <a:xfrm>
            <a:off x="1028880" y="470520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cue-2"/>
          <p:cNvSpPr/>
          <p:nvPr/>
        </p:nvSpPr>
        <p:spPr>
          <a:xfrm>
            <a:off x="1333440" y="4591080"/>
            <a:ext cx="852444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Controls: MFA, EDR, network segmentation, SIEM, patching, backup and disaster recovery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cue-dot-3"/>
          <p:cNvSpPr/>
          <p:nvPr/>
        </p:nvSpPr>
        <p:spPr>
          <a:xfrm>
            <a:off x="1028880" y="521964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cue-3"/>
          <p:cNvSpPr/>
          <p:nvPr/>
        </p:nvSpPr>
        <p:spPr>
          <a:xfrm>
            <a:off x="1333440" y="5105520"/>
            <a:ext cx="852444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Key point: prioritizing risk and building a roadmap, not just naming tools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cue-dot-4"/>
          <p:cNvSpPr/>
          <p:nvPr/>
        </p:nvSpPr>
        <p:spPr>
          <a:xfrm>
            <a:off x="1028880" y="573408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cue-4"/>
          <p:cNvSpPr/>
          <p:nvPr/>
        </p:nvSpPr>
        <p:spPr>
          <a:xfrm>
            <a:off x="1333440" y="5619600"/>
            <a:ext cx="852444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Roadmap: contain highest risks → detect and harden → validate controls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page-number"/>
          <p:cNvSpPr/>
          <p:nvPr/>
        </p:nvSpPr>
        <p:spPr>
          <a:xfrm>
            <a:off x="10001160" y="4467240"/>
            <a:ext cx="104724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2320" b="1" u="none" strike="noStrike">
                <a:solidFill>
                  <a:srgbClr val="6F88AB"/>
                </a:solidFill>
                <a:effectLst/>
                <a:uFillTx/>
                <a:latin typeface="Arial"/>
              </a:rPr>
              <a:t>04 / 14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footer"/>
          <p:cNvSpPr/>
          <p:nvPr/>
        </p:nvSpPr>
        <p:spPr>
          <a:xfrm>
            <a:off x="990720" y="5867280"/>
            <a:ext cx="457164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980" b="0" u="none" strike="noStrike">
                <a:solidFill>
                  <a:srgbClr val="6F88AB"/>
                </a:solidFill>
                <a:effectLst/>
                <a:uFillTx/>
                <a:latin typeface="Arial"/>
              </a:rPr>
              <a:t>Presentation Flashcards  •  10-minute talk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content-panel"/>
          <p:cNvSpPr/>
          <p:nvPr/>
        </p:nvSpPr>
        <p:spPr>
          <a:xfrm>
            <a:off x="571680" y="533520"/>
            <a:ext cx="11048760" cy="5790960"/>
          </a:xfrm>
          <a:prstGeom prst="roundRect">
            <a:avLst>
              <a:gd name="adj" fmla="val 2632"/>
            </a:avLst>
          </a:prstGeom>
          <a:solidFill>
            <a:srgbClr val="102B55"/>
          </a:solidFill>
          <a:ln w="9525">
            <a:solidFill>
              <a:srgbClr val="2846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portfolio-label"/>
          <p:cNvSpPr/>
          <p:nvPr/>
        </p:nvSpPr>
        <p:spPr>
          <a:xfrm>
            <a:off x="990720" y="905040"/>
            <a:ext cx="604800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050" b="1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AYALEW CHERENET  |  IT &amp; CYBERSECURITY PORTFOLIO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card-number"/>
          <p:cNvSpPr/>
          <p:nvPr/>
        </p:nvSpPr>
        <p:spPr>
          <a:xfrm>
            <a:off x="990720" y="1276200"/>
            <a:ext cx="152352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</a:rPr>
              <a:t>CARD 05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iming"/>
          <p:cNvSpPr/>
          <p:nvPr/>
        </p:nvSpPr>
        <p:spPr>
          <a:xfrm>
            <a:off x="9620280" y="1276200"/>
            <a:ext cx="14284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1200" b="1" u="none" strike="noStrike">
                <a:solidFill>
                  <a:srgbClr val="55C7F1"/>
                </a:solidFill>
                <a:effectLst/>
                <a:uFillTx/>
                <a:latin typeface="Arial"/>
              </a:rPr>
              <a:t>2:57–3:48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accent-bar"/>
          <p:cNvSpPr/>
          <p:nvPr/>
        </p:nvSpPr>
        <p:spPr>
          <a:xfrm>
            <a:off x="990720" y="1676520"/>
            <a:ext cx="590040" cy="471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1520" rIns="90000" bIns="-115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lide-title"/>
          <p:cNvSpPr/>
          <p:nvPr/>
        </p:nvSpPr>
        <p:spPr>
          <a:xfrm>
            <a:off x="990720" y="1952640"/>
            <a:ext cx="876276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3000" b="1" u="none" strike="noStrike">
                <a:solidFill>
                  <a:srgbClr val="F7FBFF"/>
                </a:solidFill>
                <a:effectLst/>
                <a:uFillTx/>
                <a:latin typeface="Arial"/>
              </a:rPr>
              <a:t>Project 2 — SecureHealth Cryptography &amp; Network Security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cue-label"/>
          <p:cNvSpPr/>
          <p:nvPr/>
        </p:nvSpPr>
        <p:spPr>
          <a:xfrm>
            <a:off x="990720" y="3162240"/>
            <a:ext cx="24760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</a:rPr>
              <a:t>WHAT TO SAY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cue-dot-0"/>
          <p:cNvSpPr/>
          <p:nvPr/>
        </p:nvSpPr>
        <p:spPr>
          <a:xfrm>
            <a:off x="1028880" y="367668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cue-0"/>
          <p:cNvSpPr/>
          <p:nvPr/>
        </p:nvSpPr>
        <p:spPr>
          <a:xfrm>
            <a:off x="1333440" y="3562200"/>
            <a:ext cx="852444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Protecting healthcare information: confidentiality, integrity, and availability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cue-dot-1"/>
          <p:cNvSpPr/>
          <p:nvPr/>
        </p:nvSpPr>
        <p:spPr>
          <a:xfrm>
            <a:off x="1028880" y="419112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cue-1"/>
          <p:cNvSpPr/>
          <p:nvPr/>
        </p:nvSpPr>
        <p:spPr>
          <a:xfrm>
            <a:off x="1333440" y="4076640"/>
            <a:ext cx="852444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TLS 1.3 for data in transit; AES-256-GCM for sensitive data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cue-dot-2"/>
          <p:cNvSpPr/>
          <p:nvPr/>
        </p:nvSpPr>
        <p:spPr>
          <a:xfrm>
            <a:off x="1028880" y="470520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cue-2"/>
          <p:cNvSpPr/>
          <p:nvPr/>
        </p:nvSpPr>
        <p:spPr>
          <a:xfrm>
            <a:off x="1333440" y="4591080"/>
            <a:ext cx="852444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PKI for certificates, secure key management, and IPsec VPN between locations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cue-dot-3"/>
          <p:cNvSpPr/>
          <p:nvPr/>
        </p:nvSpPr>
        <p:spPr>
          <a:xfrm>
            <a:off x="1028880" y="521964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cue-3"/>
          <p:cNvSpPr/>
          <p:nvPr/>
        </p:nvSpPr>
        <p:spPr>
          <a:xfrm>
            <a:off x="1333440" y="5105520"/>
            <a:ext cx="852444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Tied to HIPAA and HITECH requirements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cue-dot-4"/>
          <p:cNvSpPr/>
          <p:nvPr/>
        </p:nvSpPr>
        <p:spPr>
          <a:xfrm>
            <a:off x="1028880" y="573408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cue-4"/>
          <p:cNvSpPr/>
          <p:nvPr/>
        </p:nvSpPr>
        <p:spPr>
          <a:xfrm>
            <a:off x="1333440" y="5619600"/>
            <a:ext cx="852444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Lesson: encryption must be managed through the full key and certificate lifecycle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page-number"/>
          <p:cNvSpPr/>
          <p:nvPr/>
        </p:nvSpPr>
        <p:spPr>
          <a:xfrm>
            <a:off x="10001160" y="4467240"/>
            <a:ext cx="104724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2320" b="1" u="none" strike="noStrike">
                <a:solidFill>
                  <a:srgbClr val="6F88AB"/>
                </a:solidFill>
                <a:effectLst/>
                <a:uFillTx/>
                <a:latin typeface="Arial"/>
              </a:rPr>
              <a:t>05 / 14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footer"/>
          <p:cNvSpPr/>
          <p:nvPr/>
        </p:nvSpPr>
        <p:spPr>
          <a:xfrm>
            <a:off x="990720" y="5867280"/>
            <a:ext cx="457164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980" b="0" u="none" strike="noStrike">
                <a:solidFill>
                  <a:srgbClr val="6F88AB"/>
                </a:solidFill>
                <a:effectLst/>
                <a:uFillTx/>
                <a:latin typeface="Arial"/>
              </a:rPr>
              <a:t>Presentation Flashcards  •  10-minute talk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content-panel"/>
          <p:cNvSpPr/>
          <p:nvPr/>
        </p:nvSpPr>
        <p:spPr>
          <a:xfrm>
            <a:off x="571680" y="533520"/>
            <a:ext cx="11048760" cy="5790960"/>
          </a:xfrm>
          <a:prstGeom prst="roundRect">
            <a:avLst>
              <a:gd name="adj" fmla="val 2632"/>
            </a:avLst>
          </a:prstGeom>
          <a:solidFill>
            <a:srgbClr val="102B55"/>
          </a:solidFill>
          <a:ln w="9525">
            <a:solidFill>
              <a:srgbClr val="2846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portfolio-label"/>
          <p:cNvSpPr/>
          <p:nvPr/>
        </p:nvSpPr>
        <p:spPr>
          <a:xfrm>
            <a:off x="990720" y="905040"/>
            <a:ext cx="604800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050" b="1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AYALEW CHERENET  |  IT &amp; CYBERSECURITY PORTFOLIO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card-number"/>
          <p:cNvSpPr/>
          <p:nvPr/>
        </p:nvSpPr>
        <p:spPr>
          <a:xfrm>
            <a:off x="990720" y="1276200"/>
            <a:ext cx="152352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</a:rPr>
              <a:t>CARD 06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iming"/>
          <p:cNvSpPr/>
          <p:nvPr/>
        </p:nvSpPr>
        <p:spPr>
          <a:xfrm>
            <a:off x="9620280" y="1276200"/>
            <a:ext cx="14284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1200" b="1" u="none" strike="noStrike">
                <a:solidFill>
                  <a:srgbClr val="55C7F1"/>
                </a:solidFill>
                <a:effectLst/>
                <a:uFillTx/>
                <a:latin typeface="Arial"/>
              </a:rPr>
              <a:t>3:48–4:35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accent-bar"/>
          <p:cNvSpPr/>
          <p:nvPr/>
        </p:nvSpPr>
        <p:spPr>
          <a:xfrm>
            <a:off x="990720" y="1676520"/>
            <a:ext cx="590040" cy="471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1520" rIns="90000" bIns="-115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lide-title"/>
          <p:cNvSpPr/>
          <p:nvPr/>
        </p:nvSpPr>
        <p:spPr>
          <a:xfrm>
            <a:off x="990720" y="1952640"/>
            <a:ext cx="876276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3000" b="1" u="none" strike="noStrike">
                <a:solidFill>
                  <a:srgbClr val="F7FBFF"/>
                </a:solidFill>
                <a:effectLst/>
                <a:uFillTx/>
                <a:latin typeface="Arial"/>
              </a:rPr>
              <a:t>Project 3 — Healthcare Clinic Secure Database Design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cue-label"/>
          <p:cNvSpPr/>
          <p:nvPr/>
        </p:nvSpPr>
        <p:spPr>
          <a:xfrm>
            <a:off x="990720" y="3162240"/>
            <a:ext cx="24760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</a:rPr>
              <a:t>WHAT TO SAY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cue-dot-0"/>
          <p:cNvSpPr/>
          <p:nvPr/>
        </p:nvSpPr>
        <p:spPr>
          <a:xfrm>
            <a:off x="1028880" y="367668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cue-0"/>
          <p:cNvSpPr/>
          <p:nvPr/>
        </p:nvSpPr>
        <p:spPr>
          <a:xfrm>
            <a:off x="1333440" y="3562200"/>
            <a:ext cx="852444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Secure PostgreSQL database for a healthcare clinic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cue-dot-1"/>
          <p:cNvSpPr/>
          <p:nvPr/>
        </p:nvSpPr>
        <p:spPr>
          <a:xfrm>
            <a:off x="1028880" y="419112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cue-1"/>
          <p:cNvSpPr/>
          <p:nvPr/>
        </p:nvSpPr>
        <p:spPr>
          <a:xfrm>
            <a:off x="1333440" y="4076640"/>
            <a:ext cx="852444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RBAC and least privilege, encryption at rest, and encrypted connections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cue-dot-2"/>
          <p:cNvSpPr/>
          <p:nvPr/>
        </p:nvSpPr>
        <p:spPr>
          <a:xfrm>
            <a:off x="1028880" y="470520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cue-2"/>
          <p:cNvSpPr/>
          <p:nvPr/>
        </p:nvSpPr>
        <p:spPr>
          <a:xfrm>
            <a:off x="1333440" y="4591080"/>
            <a:ext cx="852444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Audit logging, backups, and recovery planning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cue-dot-3"/>
          <p:cNvSpPr/>
          <p:nvPr/>
        </p:nvSpPr>
        <p:spPr>
          <a:xfrm>
            <a:off x="1028880" y="521964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cue-3"/>
          <p:cNvSpPr/>
          <p:nvPr/>
        </p:nvSpPr>
        <p:spPr>
          <a:xfrm>
            <a:off x="1333440" y="5105520"/>
            <a:ext cx="852444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Staff access only what their job needs — reduces risk and supports privacy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cue-dot-4"/>
          <p:cNvSpPr/>
          <p:nvPr/>
        </p:nvSpPr>
        <p:spPr>
          <a:xfrm>
            <a:off x="1028880" y="573408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cue-4"/>
          <p:cNvSpPr/>
          <p:nvPr/>
        </p:nvSpPr>
        <p:spPr>
          <a:xfrm>
            <a:off x="1333440" y="5619600"/>
            <a:ext cx="852444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Lesson: weak access control and poor logging can lead to incidents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page-number"/>
          <p:cNvSpPr/>
          <p:nvPr/>
        </p:nvSpPr>
        <p:spPr>
          <a:xfrm>
            <a:off x="10001160" y="4467240"/>
            <a:ext cx="104724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2320" b="1" u="none" strike="noStrike">
                <a:solidFill>
                  <a:srgbClr val="6F88AB"/>
                </a:solidFill>
                <a:effectLst/>
                <a:uFillTx/>
                <a:latin typeface="Arial"/>
              </a:rPr>
              <a:t>06 / 14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footer"/>
          <p:cNvSpPr/>
          <p:nvPr/>
        </p:nvSpPr>
        <p:spPr>
          <a:xfrm>
            <a:off x="990720" y="5867280"/>
            <a:ext cx="457164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980" b="0" u="none" strike="noStrike">
                <a:solidFill>
                  <a:srgbClr val="6F88AB"/>
                </a:solidFill>
                <a:effectLst/>
                <a:uFillTx/>
                <a:latin typeface="Arial"/>
              </a:rPr>
              <a:t>Presentation Flashcards  •  10-minute talk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content-panel"/>
          <p:cNvSpPr/>
          <p:nvPr/>
        </p:nvSpPr>
        <p:spPr>
          <a:xfrm>
            <a:off x="571680" y="533520"/>
            <a:ext cx="11048760" cy="5790960"/>
          </a:xfrm>
          <a:prstGeom prst="roundRect">
            <a:avLst>
              <a:gd name="adj" fmla="val 2632"/>
            </a:avLst>
          </a:prstGeom>
          <a:solidFill>
            <a:srgbClr val="102B55"/>
          </a:solidFill>
          <a:ln w="9525">
            <a:solidFill>
              <a:srgbClr val="2846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portfolio-label"/>
          <p:cNvSpPr/>
          <p:nvPr/>
        </p:nvSpPr>
        <p:spPr>
          <a:xfrm>
            <a:off x="990720" y="905040"/>
            <a:ext cx="604800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050" b="1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AYALEW CHERENET  |  IT &amp; CYBERSECURITY PORTFOLIO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card-number"/>
          <p:cNvSpPr/>
          <p:nvPr/>
        </p:nvSpPr>
        <p:spPr>
          <a:xfrm>
            <a:off x="990720" y="1276200"/>
            <a:ext cx="152352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</a:rPr>
              <a:t>CARD 07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iming"/>
          <p:cNvSpPr/>
          <p:nvPr/>
        </p:nvSpPr>
        <p:spPr>
          <a:xfrm>
            <a:off x="9620280" y="1276200"/>
            <a:ext cx="14284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1200" b="1" u="none" strike="noStrike">
                <a:solidFill>
                  <a:srgbClr val="55C7F1"/>
                </a:solidFill>
                <a:effectLst/>
                <a:uFillTx/>
                <a:latin typeface="Arial"/>
              </a:rPr>
              <a:t>4:35–5:28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accent-bar"/>
          <p:cNvSpPr/>
          <p:nvPr/>
        </p:nvSpPr>
        <p:spPr>
          <a:xfrm>
            <a:off x="990720" y="1676520"/>
            <a:ext cx="590040" cy="471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1520" rIns="90000" bIns="-115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lide-title"/>
          <p:cNvSpPr/>
          <p:nvPr/>
        </p:nvSpPr>
        <p:spPr>
          <a:xfrm>
            <a:off x="990720" y="1952640"/>
            <a:ext cx="876276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3000" b="1" u="none" strike="noStrike">
                <a:solidFill>
                  <a:srgbClr val="F7FBFF"/>
                </a:solidFill>
                <a:effectLst/>
                <a:uFillTx/>
                <a:latin typeface="Arial"/>
              </a:rPr>
              <a:t>Project 4 — RetailHub OWASP Web App Assessment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cue-label"/>
          <p:cNvSpPr/>
          <p:nvPr/>
        </p:nvSpPr>
        <p:spPr>
          <a:xfrm>
            <a:off x="990720" y="3162240"/>
            <a:ext cx="24760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</a:rPr>
              <a:t>WHAT TO SAY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cue-dot-0"/>
          <p:cNvSpPr/>
          <p:nvPr/>
        </p:nvSpPr>
        <p:spPr>
          <a:xfrm>
            <a:off x="1028880" y="367668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cue-0"/>
          <p:cNvSpPr/>
          <p:nvPr/>
        </p:nvSpPr>
        <p:spPr>
          <a:xfrm>
            <a:off x="1333440" y="3562200"/>
            <a:ext cx="852444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E-commerce app reviewed against the OWASP Top 10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cue-dot-1"/>
          <p:cNvSpPr/>
          <p:nvPr/>
        </p:nvSpPr>
        <p:spPr>
          <a:xfrm>
            <a:off x="1028880" y="419112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cue-1"/>
          <p:cNvSpPr/>
          <p:nvPr/>
        </p:nvSpPr>
        <p:spPr>
          <a:xfrm>
            <a:off x="1333440" y="4076640"/>
            <a:ext cx="852444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Risks: broken access control, injection, XSS, weak authentication, insufficient logging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cue-dot-2"/>
          <p:cNvSpPr/>
          <p:nvPr/>
        </p:nvSpPr>
        <p:spPr>
          <a:xfrm>
            <a:off x="1028880" y="470520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cue-2"/>
          <p:cNvSpPr/>
          <p:nvPr/>
        </p:nvSpPr>
        <p:spPr>
          <a:xfrm>
            <a:off x="1333440" y="4591080"/>
            <a:ext cx="852444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Remediation: MFA, stronger access controls, input validation, SAST/DAST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cue-dot-3"/>
          <p:cNvSpPr/>
          <p:nvPr/>
        </p:nvSpPr>
        <p:spPr>
          <a:xfrm>
            <a:off x="1028880" y="521964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cue-3"/>
          <p:cNvSpPr/>
          <p:nvPr/>
        </p:nvSpPr>
        <p:spPr>
          <a:xfrm>
            <a:off x="1333440" y="5105520"/>
            <a:ext cx="852444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Also: logging, monitoring, and a web application firewall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cue-dot-4"/>
          <p:cNvSpPr/>
          <p:nvPr/>
        </p:nvSpPr>
        <p:spPr>
          <a:xfrm>
            <a:off x="1028880" y="573408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cue-4"/>
          <p:cNvSpPr/>
          <p:nvPr/>
        </p:nvSpPr>
        <p:spPr>
          <a:xfrm>
            <a:off x="1333440" y="5619600"/>
            <a:ext cx="852444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Why it matters for SOC: web weaknesses lead to alerts, incidents, and business impact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page-number"/>
          <p:cNvSpPr/>
          <p:nvPr/>
        </p:nvSpPr>
        <p:spPr>
          <a:xfrm>
            <a:off x="10001160" y="4467240"/>
            <a:ext cx="104724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2320" b="1" u="none" strike="noStrike">
                <a:solidFill>
                  <a:srgbClr val="6F88AB"/>
                </a:solidFill>
                <a:effectLst/>
                <a:uFillTx/>
                <a:latin typeface="Arial"/>
              </a:rPr>
              <a:t>07 / 14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footer"/>
          <p:cNvSpPr/>
          <p:nvPr/>
        </p:nvSpPr>
        <p:spPr>
          <a:xfrm>
            <a:off x="990720" y="5867280"/>
            <a:ext cx="457164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980" b="0" u="none" strike="noStrike">
                <a:solidFill>
                  <a:srgbClr val="6F88AB"/>
                </a:solidFill>
                <a:effectLst/>
                <a:uFillTx/>
                <a:latin typeface="Arial"/>
              </a:rPr>
              <a:t>Presentation Flashcards  •  10-minute talk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content-panel"/>
          <p:cNvSpPr/>
          <p:nvPr/>
        </p:nvSpPr>
        <p:spPr>
          <a:xfrm>
            <a:off x="571680" y="533520"/>
            <a:ext cx="11048760" cy="5790960"/>
          </a:xfrm>
          <a:prstGeom prst="roundRect">
            <a:avLst>
              <a:gd name="adj" fmla="val 2632"/>
            </a:avLst>
          </a:prstGeom>
          <a:solidFill>
            <a:srgbClr val="102B55"/>
          </a:solidFill>
          <a:ln w="9525">
            <a:solidFill>
              <a:srgbClr val="2846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portfolio-label"/>
          <p:cNvSpPr/>
          <p:nvPr/>
        </p:nvSpPr>
        <p:spPr>
          <a:xfrm>
            <a:off x="990720" y="905040"/>
            <a:ext cx="604800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050" b="1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AYALEW CHERENET  |  IT &amp; CYBERSECURITY PORTFOLIO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card-number"/>
          <p:cNvSpPr/>
          <p:nvPr/>
        </p:nvSpPr>
        <p:spPr>
          <a:xfrm>
            <a:off x="990720" y="1276200"/>
            <a:ext cx="152352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</a:rPr>
              <a:t>CARD 08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iming"/>
          <p:cNvSpPr/>
          <p:nvPr/>
        </p:nvSpPr>
        <p:spPr>
          <a:xfrm>
            <a:off x="9620280" y="1276200"/>
            <a:ext cx="14284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1200" b="1" u="none" strike="noStrike">
                <a:solidFill>
                  <a:srgbClr val="55C7F1"/>
                </a:solidFill>
                <a:effectLst/>
                <a:uFillTx/>
                <a:latin typeface="Arial"/>
              </a:rPr>
              <a:t>5:28–6:19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accent-bar"/>
          <p:cNvSpPr/>
          <p:nvPr/>
        </p:nvSpPr>
        <p:spPr>
          <a:xfrm>
            <a:off x="990720" y="1676520"/>
            <a:ext cx="590040" cy="471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1520" rIns="90000" bIns="-115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lide-title"/>
          <p:cNvSpPr/>
          <p:nvPr/>
        </p:nvSpPr>
        <p:spPr>
          <a:xfrm>
            <a:off x="990720" y="1952640"/>
            <a:ext cx="876276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550" b="1" u="none" strike="noStrike">
                <a:solidFill>
                  <a:srgbClr val="F7FBFF"/>
                </a:solidFill>
                <a:effectLst/>
                <a:uFillTx/>
                <a:latin typeface="Arial"/>
              </a:rPr>
              <a:t>Project 5 — ABC Logistics Threat &amp; Vulnerability Management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cue-label"/>
          <p:cNvSpPr/>
          <p:nvPr/>
        </p:nvSpPr>
        <p:spPr>
          <a:xfrm>
            <a:off x="990720" y="3162240"/>
            <a:ext cx="24760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</a:rPr>
              <a:t>WHAT TO SAY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cue-dot-0"/>
          <p:cNvSpPr/>
          <p:nvPr/>
        </p:nvSpPr>
        <p:spPr>
          <a:xfrm>
            <a:off x="1028880" y="367668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cue-0"/>
          <p:cNvSpPr/>
          <p:nvPr/>
        </p:nvSpPr>
        <p:spPr>
          <a:xfrm>
            <a:off x="1333440" y="356220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Full lifecycle: discover → prioritize → remediate → verify → report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cue-dot-1"/>
          <p:cNvSpPr/>
          <p:nvPr/>
        </p:nvSpPr>
        <p:spPr>
          <a:xfrm>
            <a:off x="1028880" y="427680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cue-1"/>
          <p:cNvSpPr/>
          <p:nvPr/>
        </p:nvSpPr>
        <p:spPr>
          <a:xfrm>
            <a:off x="1333440" y="416232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Prioritized with CVSS scoring, asset importance, exploitability, and business impact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cue-dot-2"/>
          <p:cNvSpPr/>
          <p:nvPr/>
        </p:nvSpPr>
        <p:spPr>
          <a:xfrm>
            <a:off x="1028880" y="487692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cue-2"/>
          <p:cNvSpPr/>
          <p:nvPr/>
        </p:nvSpPr>
        <p:spPr>
          <a:xfrm>
            <a:off x="1333440" y="476244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Not every vulnerability is equal — a repeatable process focuses on what matters most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cue-dot-3"/>
          <p:cNvSpPr/>
          <p:nvPr/>
        </p:nvSpPr>
        <p:spPr>
          <a:xfrm>
            <a:off x="1028880" y="547704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cue-3"/>
          <p:cNvSpPr/>
          <p:nvPr/>
        </p:nvSpPr>
        <p:spPr>
          <a:xfrm>
            <a:off x="1333440" y="536256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Closest project to day-to-day SOC work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page-number"/>
          <p:cNvSpPr/>
          <p:nvPr/>
        </p:nvSpPr>
        <p:spPr>
          <a:xfrm>
            <a:off x="10001160" y="4467240"/>
            <a:ext cx="104724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2320" b="1" u="none" strike="noStrike">
                <a:solidFill>
                  <a:srgbClr val="6F88AB"/>
                </a:solidFill>
                <a:effectLst/>
                <a:uFillTx/>
                <a:latin typeface="Arial"/>
              </a:rPr>
              <a:t>08 / 14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footer"/>
          <p:cNvSpPr/>
          <p:nvPr/>
        </p:nvSpPr>
        <p:spPr>
          <a:xfrm>
            <a:off x="990720" y="5867280"/>
            <a:ext cx="457164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980" b="0" u="none" strike="noStrike">
                <a:solidFill>
                  <a:srgbClr val="6F88AB"/>
                </a:solidFill>
                <a:effectLst/>
                <a:uFillTx/>
                <a:latin typeface="Arial"/>
              </a:rPr>
              <a:t>Presentation Flashcards  •  10-minute talk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content-panel"/>
          <p:cNvSpPr/>
          <p:nvPr/>
        </p:nvSpPr>
        <p:spPr>
          <a:xfrm>
            <a:off x="571680" y="533520"/>
            <a:ext cx="11048760" cy="5790960"/>
          </a:xfrm>
          <a:prstGeom prst="roundRect">
            <a:avLst>
              <a:gd name="adj" fmla="val 2632"/>
            </a:avLst>
          </a:prstGeom>
          <a:solidFill>
            <a:srgbClr val="102B55"/>
          </a:solidFill>
          <a:ln w="9525">
            <a:solidFill>
              <a:srgbClr val="2846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portfolio-label"/>
          <p:cNvSpPr/>
          <p:nvPr/>
        </p:nvSpPr>
        <p:spPr>
          <a:xfrm>
            <a:off x="990720" y="905040"/>
            <a:ext cx="604800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050" b="1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AYALEW CHERENET  |  IT &amp; CYBERSECURITY PORTFOLIO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card-number"/>
          <p:cNvSpPr/>
          <p:nvPr/>
        </p:nvSpPr>
        <p:spPr>
          <a:xfrm>
            <a:off x="990720" y="1276200"/>
            <a:ext cx="152352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</a:rPr>
              <a:t>CARD 09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iming"/>
          <p:cNvSpPr/>
          <p:nvPr/>
        </p:nvSpPr>
        <p:spPr>
          <a:xfrm>
            <a:off x="9620280" y="1276200"/>
            <a:ext cx="14284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1200" b="1" u="none" strike="noStrike">
                <a:solidFill>
                  <a:srgbClr val="55C7F1"/>
                </a:solidFill>
                <a:effectLst/>
                <a:uFillTx/>
                <a:latin typeface="Arial"/>
              </a:rPr>
              <a:t>6:19–7:09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accent-bar"/>
          <p:cNvSpPr/>
          <p:nvPr/>
        </p:nvSpPr>
        <p:spPr>
          <a:xfrm>
            <a:off x="990720" y="1676520"/>
            <a:ext cx="590040" cy="471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1520" rIns="90000" bIns="-115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lide-title"/>
          <p:cNvSpPr/>
          <p:nvPr/>
        </p:nvSpPr>
        <p:spPr>
          <a:xfrm>
            <a:off x="990720" y="1952640"/>
            <a:ext cx="876276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3000" b="1" u="none" strike="noStrike">
                <a:solidFill>
                  <a:srgbClr val="F7FBFF"/>
                </a:solidFill>
                <a:effectLst/>
                <a:uFillTx/>
                <a:latin typeface="Arial"/>
              </a:rPr>
              <a:t>Project 6 — IoT Smart Home Monitoring System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cue-label"/>
          <p:cNvSpPr/>
          <p:nvPr/>
        </p:nvSpPr>
        <p:spPr>
          <a:xfrm>
            <a:off x="990720" y="3162240"/>
            <a:ext cx="24760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</a:rPr>
              <a:t>WHAT TO SAY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cue-dot-0"/>
          <p:cNvSpPr/>
          <p:nvPr/>
        </p:nvSpPr>
        <p:spPr>
          <a:xfrm>
            <a:off x="1028880" y="367668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cue-0"/>
          <p:cNvSpPr/>
          <p:nvPr/>
        </p:nvSpPr>
        <p:spPr>
          <a:xfrm>
            <a:off x="1333440" y="356220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Raspberry Pi + sensors, MQTT over TLS, and a cloud dashboard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cue-dot-1"/>
          <p:cNvSpPr/>
          <p:nvPr/>
        </p:nvSpPr>
        <p:spPr>
          <a:xfrm>
            <a:off x="1028880" y="427680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cue-1"/>
          <p:cNvSpPr/>
          <p:nvPr/>
        </p:nvSpPr>
        <p:spPr>
          <a:xfrm>
            <a:off x="1333440" y="416232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Threshold-based alerts when values leave a safe range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cue-dot-2"/>
          <p:cNvSpPr/>
          <p:nvPr/>
        </p:nvSpPr>
        <p:spPr>
          <a:xfrm>
            <a:off x="1028880" y="487692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cue-2"/>
          <p:cNvSpPr/>
          <p:nvPr/>
        </p:nvSpPr>
        <p:spPr>
          <a:xfrm>
            <a:off x="1333440" y="476244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Security focus: data in transit, secure device communication, encrypted alerts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cue-dot-3"/>
          <p:cNvSpPr/>
          <p:nvPr/>
        </p:nvSpPr>
        <p:spPr>
          <a:xfrm>
            <a:off x="1028880" y="547704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cue-3"/>
          <p:cNvSpPr/>
          <p:nvPr/>
        </p:nvSpPr>
        <p:spPr>
          <a:xfrm>
            <a:off x="1333440" y="536256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Lesson: every connected device is useful data and a new security risk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page-number"/>
          <p:cNvSpPr/>
          <p:nvPr/>
        </p:nvSpPr>
        <p:spPr>
          <a:xfrm>
            <a:off x="10001160" y="4467240"/>
            <a:ext cx="104724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2320" b="1" u="none" strike="noStrike">
                <a:solidFill>
                  <a:srgbClr val="6F88AB"/>
                </a:solidFill>
                <a:effectLst/>
                <a:uFillTx/>
                <a:latin typeface="Arial"/>
              </a:rPr>
              <a:t>09 / 14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footer"/>
          <p:cNvSpPr/>
          <p:nvPr/>
        </p:nvSpPr>
        <p:spPr>
          <a:xfrm>
            <a:off x="990720" y="5867280"/>
            <a:ext cx="457164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980" b="0" u="none" strike="noStrike">
                <a:solidFill>
                  <a:srgbClr val="6F88AB"/>
                </a:solidFill>
                <a:effectLst/>
                <a:uFillTx/>
                <a:latin typeface="Arial"/>
              </a:rPr>
              <a:t>Presentation Flashcards  •  10-minute talk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content-panel"/>
          <p:cNvSpPr/>
          <p:nvPr/>
        </p:nvSpPr>
        <p:spPr>
          <a:xfrm>
            <a:off x="571680" y="533520"/>
            <a:ext cx="11048760" cy="5790960"/>
          </a:xfrm>
          <a:prstGeom prst="roundRect">
            <a:avLst>
              <a:gd name="adj" fmla="val 2632"/>
            </a:avLst>
          </a:prstGeom>
          <a:solidFill>
            <a:srgbClr val="102B55"/>
          </a:solidFill>
          <a:ln w="9525">
            <a:solidFill>
              <a:srgbClr val="2846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portfolio-label"/>
          <p:cNvSpPr/>
          <p:nvPr/>
        </p:nvSpPr>
        <p:spPr>
          <a:xfrm>
            <a:off x="990720" y="905040"/>
            <a:ext cx="604800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050" b="1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AYALEW CHERENET  |  IT &amp; CYBERSECURITY PORTFOLIO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card-number"/>
          <p:cNvSpPr/>
          <p:nvPr/>
        </p:nvSpPr>
        <p:spPr>
          <a:xfrm>
            <a:off x="990720" y="1276200"/>
            <a:ext cx="152352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</a:rPr>
              <a:t>CARD 10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iming"/>
          <p:cNvSpPr/>
          <p:nvPr/>
        </p:nvSpPr>
        <p:spPr>
          <a:xfrm>
            <a:off x="9620280" y="1276200"/>
            <a:ext cx="14284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1200" b="1" u="none" strike="noStrike">
                <a:solidFill>
                  <a:srgbClr val="55C7F1"/>
                </a:solidFill>
                <a:effectLst/>
                <a:uFillTx/>
                <a:latin typeface="Arial"/>
              </a:rPr>
              <a:t>7:09–7:55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accent-bar"/>
          <p:cNvSpPr/>
          <p:nvPr/>
        </p:nvSpPr>
        <p:spPr>
          <a:xfrm>
            <a:off x="990720" y="1676520"/>
            <a:ext cx="590040" cy="471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1520" rIns="90000" bIns="-115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lide-title"/>
          <p:cNvSpPr/>
          <p:nvPr/>
        </p:nvSpPr>
        <p:spPr>
          <a:xfrm>
            <a:off x="990720" y="1952640"/>
            <a:ext cx="876276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3000" b="1" u="none" strike="noStrike">
                <a:solidFill>
                  <a:srgbClr val="F7FBFF"/>
                </a:solidFill>
                <a:effectLst/>
                <a:uFillTx/>
                <a:latin typeface="Arial"/>
              </a:rPr>
              <a:t>Additional Project — Food Expense Tracker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cue-label"/>
          <p:cNvSpPr/>
          <p:nvPr/>
        </p:nvSpPr>
        <p:spPr>
          <a:xfrm>
            <a:off x="990720" y="3162240"/>
            <a:ext cx="24760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</a:rPr>
              <a:t>WHAT TO SAY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cue-dot-0"/>
          <p:cNvSpPr/>
          <p:nvPr/>
        </p:nvSpPr>
        <p:spPr>
          <a:xfrm>
            <a:off x="1028880" y="367668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cue-0"/>
          <p:cNvSpPr/>
          <p:nvPr/>
        </p:nvSpPr>
        <p:spPr>
          <a:xfrm>
            <a:off x="1333440" y="356220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Programming I project — Python + Tkinter desktop app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cue-dot-1"/>
          <p:cNvSpPr/>
          <p:nvPr/>
        </p:nvSpPr>
        <p:spPr>
          <a:xfrm>
            <a:off x="1028880" y="427680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cue-1"/>
          <p:cNvSpPr/>
          <p:nvPr/>
        </p:nvSpPr>
        <p:spPr>
          <a:xfrm>
            <a:off x="1333440" y="416232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Add, edit, delete, filter, sort, and search expenses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cue-dot-2"/>
          <p:cNvSpPr/>
          <p:nvPr/>
        </p:nvSpPr>
        <p:spPr>
          <a:xfrm>
            <a:off x="1028880" y="487692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cue-2"/>
          <p:cNvSpPr/>
          <p:nvPr/>
        </p:nvSpPr>
        <p:spPr>
          <a:xfrm>
            <a:off x="1333440" y="476244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JSON storage, input validation, category totals, and CSV export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cue-dot-3"/>
          <p:cNvSpPr/>
          <p:nvPr/>
        </p:nvSpPr>
        <p:spPr>
          <a:xfrm>
            <a:off x="1028880" y="547704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cue-3"/>
          <p:cNvSpPr/>
          <p:nvPr/>
        </p:nvSpPr>
        <p:spPr>
          <a:xfrm>
            <a:off x="1333440" y="536256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Shows practical software and data-handling skills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page-number"/>
          <p:cNvSpPr/>
          <p:nvPr/>
        </p:nvSpPr>
        <p:spPr>
          <a:xfrm>
            <a:off x="10001160" y="4467240"/>
            <a:ext cx="104724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2320" b="1" u="none" strike="noStrike">
                <a:solidFill>
                  <a:srgbClr val="6F88AB"/>
                </a:solidFill>
                <a:effectLst/>
                <a:uFillTx/>
                <a:latin typeface="Arial"/>
              </a:rPr>
              <a:t>10 / 14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footer"/>
          <p:cNvSpPr/>
          <p:nvPr/>
        </p:nvSpPr>
        <p:spPr>
          <a:xfrm>
            <a:off x="990720" y="5867280"/>
            <a:ext cx="457164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980" b="0" u="none" strike="noStrike">
                <a:solidFill>
                  <a:srgbClr val="6F88AB"/>
                </a:solidFill>
                <a:effectLst/>
                <a:uFillTx/>
                <a:latin typeface="Arial"/>
              </a:rPr>
              <a:t>Presentation Flashcards  •  10-minute talk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content-panel"/>
          <p:cNvSpPr/>
          <p:nvPr/>
        </p:nvSpPr>
        <p:spPr>
          <a:xfrm>
            <a:off x="571680" y="533520"/>
            <a:ext cx="11048760" cy="5790960"/>
          </a:xfrm>
          <a:prstGeom prst="roundRect">
            <a:avLst>
              <a:gd name="adj" fmla="val 2632"/>
            </a:avLst>
          </a:prstGeom>
          <a:solidFill>
            <a:srgbClr val="102B55"/>
          </a:solidFill>
          <a:ln w="9525">
            <a:solidFill>
              <a:srgbClr val="2846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portfolio-label"/>
          <p:cNvSpPr/>
          <p:nvPr/>
        </p:nvSpPr>
        <p:spPr>
          <a:xfrm>
            <a:off x="990720" y="905040"/>
            <a:ext cx="604800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050" b="1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AYALEW CHERENET  |  IT &amp; CYBERSECURITY PORTFOLIO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card-number"/>
          <p:cNvSpPr/>
          <p:nvPr/>
        </p:nvSpPr>
        <p:spPr>
          <a:xfrm>
            <a:off x="990720" y="1276200"/>
            <a:ext cx="152352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</a:rPr>
              <a:t>CARD 11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iming"/>
          <p:cNvSpPr/>
          <p:nvPr/>
        </p:nvSpPr>
        <p:spPr>
          <a:xfrm>
            <a:off x="9620280" y="1276200"/>
            <a:ext cx="14284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1200" b="1" u="none" strike="noStrike">
                <a:solidFill>
                  <a:srgbClr val="55C7F1"/>
                </a:solidFill>
                <a:effectLst/>
                <a:uFillTx/>
                <a:latin typeface="Arial"/>
              </a:rPr>
              <a:t>7:55–8:36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accent-bar"/>
          <p:cNvSpPr/>
          <p:nvPr/>
        </p:nvSpPr>
        <p:spPr>
          <a:xfrm>
            <a:off x="990720" y="1676520"/>
            <a:ext cx="590040" cy="471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1520" rIns="90000" bIns="-115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lide-title"/>
          <p:cNvSpPr/>
          <p:nvPr/>
        </p:nvSpPr>
        <p:spPr>
          <a:xfrm>
            <a:off x="990720" y="1952640"/>
            <a:ext cx="876276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3000" b="1" u="none" strike="noStrike">
                <a:solidFill>
                  <a:srgbClr val="F7FBFF"/>
                </a:solidFill>
                <a:effectLst/>
                <a:uFillTx/>
                <a:latin typeface="Arial"/>
              </a:rPr>
              <a:t>Additional Project — MAKEDA (Queen of Sheba)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cue-label"/>
          <p:cNvSpPr/>
          <p:nvPr/>
        </p:nvSpPr>
        <p:spPr>
          <a:xfrm>
            <a:off x="990720" y="3162240"/>
            <a:ext cx="24760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</a:rPr>
              <a:t>WHAT TO SAY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cue-dot-0"/>
          <p:cNvSpPr/>
          <p:nvPr/>
        </p:nvSpPr>
        <p:spPr>
          <a:xfrm>
            <a:off x="1028880" y="367668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cue-0"/>
          <p:cNvSpPr/>
          <p:nvPr/>
        </p:nvSpPr>
        <p:spPr>
          <a:xfrm>
            <a:off x="1333440" y="356220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Shopify e-commerce project: brand storytelling, product organization, mobile usability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cue-dot-1"/>
          <p:cNvSpPr/>
          <p:nvPr/>
        </p:nvSpPr>
        <p:spPr>
          <a:xfrm>
            <a:off x="1028880" y="427680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cue-1"/>
          <p:cNvSpPr/>
          <p:nvPr/>
        </p:nvSpPr>
        <p:spPr>
          <a:xfrm>
            <a:off x="1333440" y="416232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E-commerce security awareness: secure checkout, MFA, and privacy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cue-dot-2"/>
          <p:cNvSpPr/>
          <p:nvPr/>
        </p:nvSpPr>
        <p:spPr>
          <a:xfrm>
            <a:off x="1028880" y="487692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cue-2"/>
          <p:cNvSpPr/>
          <p:nvPr/>
        </p:nvSpPr>
        <p:spPr>
          <a:xfrm>
            <a:off x="1333440" y="476244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Bridges technical and business needs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cue-dot-3"/>
          <p:cNvSpPr/>
          <p:nvPr/>
        </p:nvSpPr>
        <p:spPr>
          <a:xfrm>
            <a:off x="1028880" y="547704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cue-3"/>
          <p:cNvSpPr/>
          <p:nvPr/>
        </p:nvSpPr>
        <p:spPr>
          <a:xfrm>
            <a:off x="1333440" y="536256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Connects to RetailHub: online stores must protect customers, data, payments, and trust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page-number"/>
          <p:cNvSpPr/>
          <p:nvPr/>
        </p:nvSpPr>
        <p:spPr>
          <a:xfrm>
            <a:off x="10001160" y="4467240"/>
            <a:ext cx="104724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2320" b="1" u="none" strike="noStrike">
                <a:solidFill>
                  <a:srgbClr val="6F88AB"/>
                </a:solidFill>
                <a:effectLst/>
                <a:uFillTx/>
                <a:latin typeface="Arial"/>
              </a:rPr>
              <a:t>11 / 14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footer"/>
          <p:cNvSpPr/>
          <p:nvPr/>
        </p:nvSpPr>
        <p:spPr>
          <a:xfrm>
            <a:off x="990720" y="5867280"/>
            <a:ext cx="457164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980" b="0" u="none" strike="noStrike">
                <a:solidFill>
                  <a:srgbClr val="6F88AB"/>
                </a:solidFill>
                <a:effectLst/>
                <a:uFillTx/>
                <a:latin typeface="Arial"/>
              </a:rPr>
              <a:t>Presentation Flashcards  •  10-minute talk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content-panel"/>
          <p:cNvSpPr/>
          <p:nvPr/>
        </p:nvSpPr>
        <p:spPr>
          <a:xfrm>
            <a:off x="571680" y="533520"/>
            <a:ext cx="11048760" cy="5790960"/>
          </a:xfrm>
          <a:prstGeom prst="roundRect">
            <a:avLst>
              <a:gd name="adj" fmla="val 2632"/>
            </a:avLst>
          </a:prstGeom>
          <a:solidFill>
            <a:srgbClr val="102B55"/>
          </a:solidFill>
          <a:ln w="9525">
            <a:solidFill>
              <a:srgbClr val="2846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portfolio-label"/>
          <p:cNvSpPr/>
          <p:nvPr/>
        </p:nvSpPr>
        <p:spPr>
          <a:xfrm>
            <a:off x="990720" y="905040"/>
            <a:ext cx="604800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050" b="1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AYALEW CHERENET  |  IT &amp; CYBERSECURITY PORTFOLIO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card-number"/>
          <p:cNvSpPr/>
          <p:nvPr/>
        </p:nvSpPr>
        <p:spPr>
          <a:xfrm>
            <a:off x="990720" y="1276200"/>
            <a:ext cx="152352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</a:rPr>
              <a:t>CARD 12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timing"/>
          <p:cNvSpPr/>
          <p:nvPr/>
        </p:nvSpPr>
        <p:spPr>
          <a:xfrm>
            <a:off x="9620280" y="1276200"/>
            <a:ext cx="14284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1200" b="1" u="none" strike="noStrike">
                <a:solidFill>
                  <a:srgbClr val="55C7F1"/>
                </a:solidFill>
                <a:effectLst/>
                <a:uFillTx/>
                <a:latin typeface="Arial"/>
              </a:rPr>
              <a:t>8:36–9:08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accent-bar"/>
          <p:cNvSpPr/>
          <p:nvPr/>
        </p:nvSpPr>
        <p:spPr>
          <a:xfrm>
            <a:off x="990720" y="1676520"/>
            <a:ext cx="590040" cy="471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1520" rIns="90000" bIns="-115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lide-title"/>
          <p:cNvSpPr/>
          <p:nvPr/>
        </p:nvSpPr>
        <p:spPr>
          <a:xfrm>
            <a:off x="990720" y="1952640"/>
            <a:ext cx="876276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3000" b="1" u="none" strike="noStrike">
                <a:solidFill>
                  <a:srgbClr val="F7FBFF"/>
                </a:solidFill>
                <a:effectLst/>
                <a:uFillTx/>
                <a:latin typeface="Arial"/>
              </a:rPr>
              <a:t>Live GitHub Portfolio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cue-label"/>
          <p:cNvSpPr/>
          <p:nvPr/>
        </p:nvSpPr>
        <p:spPr>
          <a:xfrm>
            <a:off x="990720" y="3162240"/>
            <a:ext cx="24760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</a:rPr>
              <a:t>WHAT TO SAY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cue-dot-0"/>
          <p:cNvSpPr/>
          <p:nvPr/>
        </p:nvSpPr>
        <p:spPr>
          <a:xfrm>
            <a:off x="1028880" y="367668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cue-0"/>
          <p:cNvSpPr/>
          <p:nvPr/>
        </p:nvSpPr>
        <p:spPr>
          <a:xfrm>
            <a:off x="1333440" y="356220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Brings all 8 projects together on one site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cue-dot-1"/>
          <p:cNvSpPr/>
          <p:nvPr/>
        </p:nvSpPr>
        <p:spPr>
          <a:xfrm>
            <a:off x="1028880" y="427680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cue-1"/>
          <p:cNvSpPr/>
          <p:nvPr/>
        </p:nvSpPr>
        <p:spPr>
          <a:xfrm>
            <a:off x="1333440" y="416232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Recruiters can review project pages, documentation, diagrams, a live practice demo, GitHub work, and the MAKEDA showcase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cue-dot-2"/>
          <p:cNvSpPr/>
          <p:nvPr/>
        </p:nvSpPr>
        <p:spPr>
          <a:xfrm>
            <a:off x="1028880" y="487692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cue-2"/>
          <p:cNvSpPr/>
          <p:nvPr/>
        </p:nvSpPr>
        <p:spPr>
          <a:xfrm>
            <a:off x="1333440" y="476244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Each project: problem → approach → tools/concepts → outcome or recommendation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cue-dot-3"/>
          <p:cNvSpPr/>
          <p:nvPr/>
        </p:nvSpPr>
        <p:spPr>
          <a:xfrm>
            <a:off x="1028880" y="547704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cue-3"/>
          <p:cNvSpPr/>
          <p:nvPr/>
        </p:nvSpPr>
        <p:spPr>
          <a:xfrm>
            <a:off x="1333440" y="536256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Goal: easy to explore and easy to understand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page-number"/>
          <p:cNvSpPr/>
          <p:nvPr/>
        </p:nvSpPr>
        <p:spPr>
          <a:xfrm>
            <a:off x="10001160" y="4467240"/>
            <a:ext cx="104724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2320" b="1" u="none" strike="noStrike">
                <a:solidFill>
                  <a:srgbClr val="6F88AB"/>
                </a:solidFill>
                <a:effectLst/>
                <a:uFillTx/>
                <a:latin typeface="Arial"/>
              </a:rPr>
              <a:t>12 / 14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footer"/>
          <p:cNvSpPr/>
          <p:nvPr/>
        </p:nvSpPr>
        <p:spPr>
          <a:xfrm>
            <a:off x="990720" y="5867280"/>
            <a:ext cx="457164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980" b="0" u="none" strike="noStrike">
                <a:solidFill>
                  <a:srgbClr val="6F88AB"/>
                </a:solidFill>
                <a:effectLst/>
                <a:uFillTx/>
                <a:latin typeface="Arial"/>
              </a:rPr>
              <a:t>Presentation Flashcards  •  10-minute talk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content-panel"/>
          <p:cNvSpPr/>
          <p:nvPr/>
        </p:nvSpPr>
        <p:spPr>
          <a:xfrm>
            <a:off x="571680" y="533520"/>
            <a:ext cx="11048760" cy="5790960"/>
          </a:xfrm>
          <a:prstGeom prst="roundRect">
            <a:avLst>
              <a:gd name="adj" fmla="val 2632"/>
            </a:avLst>
          </a:prstGeom>
          <a:solidFill>
            <a:srgbClr val="102B55"/>
          </a:solidFill>
          <a:ln w="9525">
            <a:solidFill>
              <a:srgbClr val="2846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portfolio-label"/>
          <p:cNvSpPr/>
          <p:nvPr/>
        </p:nvSpPr>
        <p:spPr>
          <a:xfrm>
            <a:off x="990720" y="905040"/>
            <a:ext cx="604800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050" b="1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AYALEW CHERENET  |  IT &amp; CYBERSECURITY PORTFOLIO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card-number"/>
          <p:cNvSpPr/>
          <p:nvPr/>
        </p:nvSpPr>
        <p:spPr>
          <a:xfrm>
            <a:off x="990720" y="1276200"/>
            <a:ext cx="152352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</a:rPr>
              <a:t>CARD 13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iming"/>
          <p:cNvSpPr/>
          <p:nvPr/>
        </p:nvSpPr>
        <p:spPr>
          <a:xfrm>
            <a:off x="9620280" y="1276200"/>
            <a:ext cx="14284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1200" b="1" u="none" strike="noStrike">
                <a:solidFill>
                  <a:srgbClr val="55C7F1"/>
                </a:solidFill>
                <a:effectLst/>
                <a:uFillTx/>
                <a:latin typeface="Arial"/>
              </a:rPr>
              <a:t>9:08–9:32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accent-bar"/>
          <p:cNvSpPr/>
          <p:nvPr/>
        </p:nvSpPr>
        <p:spPr>
          <a:xfrm>
            <a:off x="990720" y="1676520"/>
            <a:ext cx="590040" cy="471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1520" rIns="90000" bIns="-115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slide-title"/>
          <p:cNvSpPr/>
          <p:nvPr/>
        </p:nvSpPr>
        <p:spPr>
          <a:xfrm>
            <a:off x="990720" y="1952640"/>
            <a:ext cx="876276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3000" b="1" u="none" strike="noStrike">
                <a:solidFill>
                  <a:srgbClr val="F7FBFF"/>
                </a:solidFill>
                <a:effectLst/>
                <a:uFillTx/>
                <a:latin typeface="Arial"/>
              </a:rPr>
              <a:t>Certifications &amp; Growth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cue-label"/>
          <p:cNvSpPr/>
          <p:nvPr/>
        </p:nvSpPr>
        <p:spPr>
          <a:xfrm>
            <a:off x="990720" y="3162240"/>
            <a:ext cx="24760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</a:rPr>
              <a:t>WHAT TO SAY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cue-dot-0"/>
          <p:cNvSpPr/>
          <p:nvPr/>
        </p:nvSpPr>
        <p:spPr>
          <a:xfrm>
            <a:off x="1028880" y="367668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cue-0"/>
          <p:cNvSpPr/>
          <p:nvPr/>
        </p:nvSpPr>
        <p:spPr>
          <a:xfrm>
            <a:off x="1333440" y="356220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Completing the Google Cybersecurity Professional Certificate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cue-dot-1"/>
          <p:cNvSpPr/>
          <p:nvPr/>
        </p:nvSpPr>
        <p:spPr>
          <a:xfrm>
            <a:off x="1028880" y="427680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cue-1"/>
          <p:cNvSpPr/>
          <p:nvPr/>
        </p:nvSpPr>
        <p:spPr>
          <a:xfrm>
            <a:off x="1333440" y="416232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Preparing for CompTIA Security+ next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cue-dot-2"/>
          <p:cNvSpPr/>
          <p:nvPr/>
        </p:nvSpPr>
        <p:spPr>
          <a:xfrm>
            <a:off x="1028880" y="487692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cue-2"/>
          <p:cNvSpPr/>
          <p:nvPr/>
        </p:nvSpPr>
        <p:spPr>
          <a:xfrm>
            <a:off x="1333440" y="476244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Next: more SOC-focused projects and sharper incident response and monitoring skills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cue-dot-3"/>
          <p:cNvSpPr/>
          <p:nvPr/>
        </p:nvSpPr>
        <p:spPr>
          <a:xfrm>
            <a:off x="1028880" y="547704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cue-3"/>
          <p:cNvSpPr/>
          <p:nvPr/>
        </p:nvSpPr>
        <p:spPr>
          <a:xfrm>
            <a:off x="1333440" y="536256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Goal: contribute to a cybersecurity team in Dallas–Fort Worth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page-number"/>
          <p:cNvSpPr/>
          <p:nvPr/>
        </p:nvSpPr>
        <p:spPr>
          <a:xfrm>
            <a:off x="10001160" y="4467240"/>
            <a:ext cx="104724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2320" b="1" u="none" strike="noStrike">
                <a:solidFill>
                  <a:srgbClr val="6F88AB"/>
                </a:solidFill>
                <a:effectLst/>
                <a:uFillTx/>
                <a:latin typeface="Arial"/>
              </a:rPr>
              <a:t>13 / 14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footer"/>
          <p:cNvSpPr/>
          <p:nvPr/>
        </p:nvSpPr>
        <p:spPr>
          <a:xfrm>
            <a:off x="990720" y="5867280"/>
            <a:ext cx="457164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980" b="0" u="none" strike="noStrike">
                <a:solidFill>
                  <a:srgbClr val="6F88AB"/>
                </a:solidFill>
                <a:effectLst/>
                <a:uFillTx/>
                <a:latin typeface="Arial"/>
              </a:rPr>
              <a:t>Presentation Flashcards  •  10-minute talk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content-panel"/>
          <p:cNvSpPr/>
          <p:nvPr/>
        </p:nvSpPr>
        <p:spPr>
          <a:xfrm>
            <a:off x="571680" y="533520"/>
            <a:ext cx="11048760" cy="5790960"/>
          </a:xfrm>
          <a:prstGeom prst="roundRect">
            <a:avLst>
              <a:gd name="adj" fmla="val 2632"/>
            </a:avLst>
          </a:prstGeom>
          <a:solidFill>
            <a:srgbClr val="102B55"/>
          </a:solidFill>
          <a:ln w="9525">
            <a:solidFill>
              <a:srgbClr val="2846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portfolio-label"/>
          <p:cNvSpPr/>
          <p:nvPr/>
        </p:nvSpPr>
        <p:spPr>
          <a:xfrm>
            <a:off x="990720" y="905040"/>
            <a:ext cx="604800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050" b="1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AYALEW CHERENET  |  IT &amp; CYBERSECURITY PORTFOLIO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card-number"/>
          <p:cNvSpPr/>
          <p:nvPr/>
        </p:nvSpPr>
        <p:spPr>
          <a:xfrm>
            <a:off x="990720" y="1276200"/>
            <a:ext cx="152352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</a:rPr>
              <a:t>CARD 14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timing"/>
          <p:cNvSpPr/>
          <p:nvPr/>
        </p:nvSpPr>
        <p:spPr>
          <a:xfrm>
            <a:off x="9620280" y="1276200"/>
            <a:ext cx="14284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1200" b="1" u="none" strike="noStrike">
                <a:solidFill>
                  <a:srgbClr val="55C7F1"/>
                </a:solidFill>
                <a:effectLst/>
                <a:uFillTx/>
                <a:latin typeface="Arial"/>
              </a:rPr>
              <a:t>9:32–10:00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accent-bar"/>
          <p:cNvSpPr/>
          <p:nvPr/>
        </p:nvSpPr>
        <p:spPr>
          <a:xfrm>
            <a:off x="990720" y="1676520"/>
            <a:ext cx="590040" cy="4716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1520" rIns="90000" bIns="-1152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lide-title"/>
          <p:cNvSpPr/>
          <p:nvPr/>
        </p:nvSpPr>
        <p:spPr>
          <a:xfrm>
            <a:off x="990720" y="1952640"/>
            <a:ext cx="876276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3000" b="1" u="none" strike="noStrike">
                <a:solidFill>
                  <a:srgbClr val="F7FBFF"/>
                </a:solidFill>
                <a:effectLst/>
                <a:uFillTx/>
                <a:latin typeface="Arial"/>
              </a:rPr>
              <a:t>Closing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cue-label"/>
          <p:cNvSpPr/>
          <p:nvPr/>
        </p:nvSpPr>
        <p:spPr>
          <a:xfrm>
            <a:off x="990720" y="3162240"/>
            <a:ext cx="247608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34D4B4"/>
                </a:solidFill>
                <a:effectLst/>
                <a:uFillTx/>
                <a:latin typeface="Arial"/>
              </a:rPr>
              <a:t>WHAT TO SAY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cue-dot-0"/>
          <p:cNvSpPr/>
          <p:nvPr/>
        </p:nvSpPr>
        <p:spPr>
          <a:xfrm>
            <a:off x="1028880" y="367668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cue-0"/>
          <p:cNvSpPr/>
          <p:nvPr/>
        </p:nvSpPr>
        <p:spPr>
          <a:xfrm>
            <a:off x="1333440" y="356220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Portfolio = more than school assignments — it is career preparation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cue-dot-1"/>
          <p:cNvSpPr/>
          <p:nvPr/>
        </p:nvSpPr>
        <p:spPr>
          <a:xfrm>
            <a:off x="1028880" y="427680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cue-1"/>
          <p:cNvSpPr/>
          <p:nvPr/>
        </p:nvSpPr>
        <p:spPr>
          <a:xfrm>
            <a:off x="1333440" y="416232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Ready to learn from experienced professionals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cue-dot-2"/>
          <p:cNvSpPr/>
          <p:nvPr/>
        </p:nvSpPr>
        <p:spPr>
          <a:xfrm>
            <a:off x="1028880" y="487692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cue-2"/>
          <p:cNvSpPr/>
          <p:nvPr/>
        </p:nvSpPr>
        <p:spPr>
          <a:xfrm>
            <a:off x="1333440" y="476244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Bring strong documentation and attention to detail as a SOC Analyst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cue-dot-3"/>
          <p:cNvSpPr/>
          <p:nvPr/>
        </p:nvSpPr>
        <p:spPr>
          <a:xfrm>
            <a:off x="1028880" y="5477040"/>
            <a:ext cx="85320" cy="85320"/>
          </a:xfrm>
          <a:prstGeom prst="roundRect">
            <a:avLst>
              <a:gd name="adj" fmla="val 50000"/>
            </a:avLst>
          </a:prstGeom>
          <a:solidFill>
            <a:srgbClr val="34D4B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15840" rIns="90000" bIns="1584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cue-3"/>
          <p:cNvSpPr/>
          <p:nvPr/>
        </p:nvSpPr>
        <p:spPr>
          <a:xfrm>
            <a:off x="1333440" y="5362560"/>
            <a:ext cx="85244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C9D8ED"/>
                </a:solidFill>
                <a:effectLst/>
                <a:uFillTx/>
                <a:latin typeface="Arial"/>
              </a:rPr>
              <a:t>Thank the audience and invite questions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page-number"/>
          <p:cNvSpPr/>
          <p:nvPr/>
        </p:nvSpPr>
        <p:spPr>
          <a:xfrm>
            <a:off x="10001160" y="4467240"/>
            <a:ext cx="104724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r">
              <a:lnSpc>
                <a:spcPct val="100000"/>
              </a:lnSpc>
            </a:pPr>
            <a:r>
              <a:rPr lang="en-US" sz="2320" b="1" u="none" strike="noStrike">
                <a:solidFill>
                  <a:srgbClr val="6F88AB"/>
                </a:solidFill>
                <a:effectLst/>
                <a:uFillTx/>
                <a:latin typeface="Arial"/>
              </a:rPr>
              <a:t>14 / 14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footer"/>
          <p:cNvSpPr/>
          <p:nvPr/>
        </p:nvSpPr>
        <p:spPr>
          <a:xfrm>
            <a:off x="990720" y="5867280"/>
            <a:ext cx="457164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980" b="0" u="none" strike="noStrike">
                <a:solidFill>
                  <a:srgbClr val="6F88AB"/>
                </a:solidFill>
                <a:effectLst/>
                <a:uFillTx/>
                <a:latin typeface="Arial"/>
              </a:rPr>
              <a:t>Presentation Flashcards  •  10-minute talk</a:t>
            </a:r>
            <a:endParaRPr lang="en-US" sz="9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 pitchFamily="0" charset="1"/>
        <a:ea typeface="Calibri Light" pitchFamily="0" charset="1"/>
        <a:cs typeface="Calibri Light" pitchFamily="0" charset="1"/>
      </a:majorFont>
      <a:minorFont>
        <a:latin typeface="Calibri" pitchFamily="0" charset="1"/>
        <a:ea typeface="Calibri" pitchFamily="0" charset="1"/>
        <a:cs typeface="Calibri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LibreOfficeDev/26.8.0.0.alpha0$Linux_X86_64 LibreOffice_project/2c87e51eeaa2b413ff4ae097b2705eea1995d8e5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2026-09-01T00:54:48Z</dcterms:created>
  <dc:creator>Walnut Exporter</dc:creator>
  <dc:description/>
  <dc:language>en-US</dc:language>
  <cp:lastModifiedBy>Walnut Exporter</cp:lastModifiedBy>
  <dcterms:modified xsi:type="dcterms:W3CDTF">2026-09-01T00:54:48Z</dcterms:modified>
  <cp:revision>0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
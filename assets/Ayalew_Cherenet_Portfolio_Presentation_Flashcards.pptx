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a7346986b4565" /><Relationship Type="http://schemas.openxmlformats.org/officeDocument/2006/relationships/extended-properties" Target="/docProps/app.xml" Id="R6e772b25153742ce" /><Relationship Type="http://schemas.openxmlformats.org/officeDocument/2006/relationships/officeDocument" Target="/ppt/presentation.xml" Id="R588c0969cad24b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e06d76295480c"/>
  </p:sldMasterIdLst>
  <p:notesMasterIdLst>
    <p:notesMasterId xmlns:r="http://schemas.openxmlformats.org/officeDocument/2006/relationships" r:id="R3d628ba710c849fc"/>
  </p:notesMasterIdLst>
  <p:sldIdLst>
    <p:sldId xmlns:r="http://schemas.openxmlformats.org/officeDocument/2006/relationships" id="256" r:id="R00c9bca787e94594"/>
    <p:sldId xmlns:r="http://schemas.openxmlformats.org/officeDocument/2006/relationships" id="257" r:id="R3c8585afd2cc4835"/>
    <p:sldId xmlns:r="http://schemas.openxmlformats.org/officeDocument/2006/relationships" id="258" r:id="Raa470c731e964e5d"/>
    <p:sldId xmlns:r="http://schemas.openxmlformats.org/officeDocument/2006/relationships" id="259" r:id="Rbf7c794d9c5f40e2"/>
    <p:sldId xmlns:r="http://schemas.openxmlformats.org/officeDocument/2006/relationships" id="260" r:id="R96282eee7cd549b3"/>
    <p:sldId xmlns:r="http://schemas.openxmlformats.org/officeDocument/2006/relationships" id="261" r:id="R609dd05ff510473b"/>
    <p:sldId xmlns:r="http://schemas.openxmlformats.org/officeDocument/2006/relationships" id="262" r:id="R9fd83ab51b454f44"/>
    <p:sldId xmlns:r="http://schemas.openxmlformats.org/officeDocument/2006/relationships" id="263" r:id="Rdd8a08d5b64349db"/>
    <p:sldId xmlns:r="http://schemas.openxmlformats.org/officeDocument/2006/relationships" id="264" r:id="Rb1696f70fb2646a7"/>
    <p:sldId xmlns:r="http://schemas.openxmlformats.org/officeDocument/2006/relationships" id="265" r:id="R8a08d8e071a84900"/>
    <p:sldId xmlns:r="http://schemas.openxmlformats.org/officeDocument/2006/relationships" id="266" r:id="Rac18505bf7bb4792"/>
    <p:sldId xmlns:r="http://schemas.openxmlformats.org/officeDocument/2006/relationships" id="267" r:id="R041952dbe4844f73"/>
    <p:sldId xmlns:r="http://schemas.openxmlformats.org/officeDocument/2006/relationships" id="268" r:id="R4af1e852266e4eda"/>
    <p:sldId xmlns:r="http://schemas.openxmlformats.org/officeDocument/2006/relationships" id="269" r:id="R8684ba57442842e0"/>
    <p:sldId xmlns:r="http://schemas.openxmlformats.org/officeDocument/2006/relationships" id="270" r:id="Re78408fce93b49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a34ee4e938404f" /><Relationship Type="http://schemas.openxmlformats.org/officeDocument/2006/relationships/slideMaster" Target="/ppt/slideMasters/slideMaster1.xml" Id="R435e06d76295480c" /><Relationship Type="http://schemas.openxmlformats.org/officeDocument/2006/relationships/notesMaster" Target="/ppt/notesMasters/notesMaster1.xml" Id="R3d628ba710c849fc" /><Relationship Type="http://schemas.openxmlformats.org/officeDocument/2006/relationships/presProps" Target="/ppt/presProps.xml" Id="R9654c9a79be04fc9" /><Relationship Type="http://schemas.openxmlformats.org/officeDocument/2006/relationships/tableStyles" Target="/ppt/tableStyles.xml" Id="R06568e4275d04392" /><Relationship Type="http://schemas.openxmlformats.org/officeDocument/2006/relationships/slide" Target="/ppt/slides/slide1.xml" Id="R00c9bca787e94594" /><Relationship Type="http://schemas.openxmlformats.org/officeDocument/2006/relationships/slide" Target="/ppt/slides/slide2.xml" Id="R3c8585afd2cc4835" /><Relationship Type="http://schemas.openxmlformats.org/officeDocument/2006/relationships/slide" Target="/ppt/slides/slide3.xml" Id="Raa470c731e964e5d" /><Relationship Type="http://schemas.openxmlformats.org/officeDocument/2006/relationships/slide" Target="/ppt/slides/slide4.xml" Id="Rbf7c794d9c5f40e2" /><Relationship Type="http://schemas.openxmlformats.org/officeDocument/2006/relationships/slide" Target="/ppt/slides/slide5.xml" Id="R96282eee7cd549b3" /><Relationship Type="http://schemas.openxmlformats.org/officeDocument/2006/relationships/slide" Target="/ppt/slides/slide6.xml" Id="R609dd05ff510473b" /><Relationship Type="http://schemas.openxmlformats.org/officeDocument/2006/relationships/slide" Target="/ppt/slides/slide7.xml" Id="R9fd83ab51b454f44" /><Relationship Type="http://schemas.openxmlformats.org/officeDocument/2006/relationships/slide" Target="/ppt/slides/slide8.xml" Id="Rdd8a08d5b64349db" /><Relationship Type="http://schemas.openxmlformats.org/officeDocument/2006/relationships/slide" Target="/ppt/slides/slide9.xml" Id="Rb1696f70fb2646a7" /><Relationship Type="http://schemas.openxmlformats.org/officeDocument/2006/relationships/slide" Target="/ppt/slides/slide10.xml" Id="R8a08d8e071a84900" /><Relationship Type="http://schemas.openxmlformats.org/officeDocument/2006/relationships/slide" Target="/ppt/slides/slide11.xml" Id="Rac18505bf7bb4792" /><Relationship Type="http://schemas.openxmlformats.org/officeDocument/2006/relationships/slide" Target="/ppt/slides/slide12.xml" Id="R041952dbe4844f73" /><Relationship Type="http://schemas.openxmlformats.org/officeDocument/2006/relationships/slide" Target="/ppt/slides/slide13.xml" Id="R4af1e852266e4eda" /><Relationship Type="http://schemas.openxmlformats.org/officeDocument/2006/relationships/slide" Target="/ppt/slides/slide14.xml" Id="R8684ba57442842e0" /><Relationship Type="http://schemas.openxmlformats.org/officeDocument/2006/relationships/slide" Target="/ppt/slides/slide15.xml" Id="Re78408fce93b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9fa550baf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9222a1fef3446b" /><Relationship Type="http://schemas.openxmlformats.org/officeDocument/2006/relationships/notesMaster" Target="/ppt/notesMasters/notesMaster1.xml" Id="R03de1f863b1148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ffbb2976314111" /><Relationship Type="http://schemas.openxmlformats.org/officeDocument/2006/relationships/notesMaster" Target="/ppt/notesMasters/notesMaster1.xml" Id="R01b025181233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129277387403d" /><Relationship Type="http://schemas.openxmlformats.org/officeDocument/2006/relationships/notesMaster" Target="/ppt/notesMasters/notesMaster1.xml" Id="R15ae15c1b47748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2d58fc84d4808" /><Relationship Type="http://schemas.openxmlformats.org/officeDocument/2006/relationships/notesMaster" Target="/ppt/notesMasters/notesMaster1.xml" Id="R20f61c8f5c0d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b4dc6846d04198" /><Relationship Type="http://schemas.openxmlformats.org/officeDocument/2006/relationships/notesMaster" Target="/ppt/notesMasters/notesMaster1.xml" Id="R20ab1c44c0e64a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589a068779487b" /><Relationship Type="http://schemas.openxmlformats.org/officeDocument/2006/relationships/notesMaster" Target="/ppt/notesMasters/notesMaster1.xml" Id="R1db59d280b26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5c07b91ca44fe3" /><Relationship Type="http://schemas.openxmlformats.org/officeDocument/2006/relationships/notesMaster" Target="/ppt/notesMasters/notesMaster1.xml" Id="R3ad6b167b96a4e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ab896d63064394" /><Relationship Type="http://schemas.openxmlformats.org/officeDocument/2006/relationships/notesMaster" Target="/ppt/notesMasters/notesMaster1.xml" Id="R31850759e5c246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b8dd788b4e4556" /><Relationship Type="http://schemas.openxmlformats.org/officeDocument/2006/relationships/notesMaster" Target="/ppt/notesMasters/notesMaster1.xml" Id="R789e9bdd87c44b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9db5faa14249a1" /><Relationship Type="http://schemas.openxmlformats.org/officeDocument/2006/relationships/notesMaster" Target="/ppt/notesMasters/notesMaster1.xml" Id="R950ad9b3e1304c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b45dfdd10b4b10" /><Relationship Type="http://schemas.openxmlformats.org/officeDocument/2006/relationships/notesMaster" Target="/ppt/notesMasters/notesMaster1.xml" Id="Rd70abab0c95142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118469cd8c49df" /><Relationship Type="http://schemas.openxmlformats.org/officeDocument/2006/relationships/notesMaster" Target="/ppt/notesMasters/notesMaster1.xml" Id="Re1594a5bb2e34e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0fbf9a6df847f9" /><Relationship Type="http://schemas.openxmlformats.org/officeDocument/2006/relationships/notesMaster" Target="/ppt/notesMasters/notesMaster1.xml" Id="R0188d0251bed42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6b4412d67f45eb" /><Relationship Type="http://schemas.openxmlformats.org/officeDocument/2006/relationships/notesMaster" Target="/ppt/notesMasters/notesMaster1.xml" Id="R4afe4eac2e804c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b02fe4869a4896" /><Relationship Type="http://schemas.openxmlformats.org/officeDocument/2006/relationships/notesMaster" Target="/ppt/notesMasters/notesMaster1.xml" Id="Rb89629377c8e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01 — Opening</a:t>
            </a:r>
          </a:p>
          <a:p xmlns:a="http://schemas.openxmlformats.org/drawingml/2006/main">
            <a:r>
              <a:t>Timing: 0:00–0:42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I’m Ayalew Cherenet, an Information Technology (IT) and Cybersecurity student at Wade College graduating in September 2026</a:t>
            </a:r>
          </a:p>
          <a:p xmlns:a="http://schemas.openxmlformats.org/drawingml/2006/main">
            <a:r>
              <a:t>• My goal is an entry-level SOC Analyst job in Dallas–Fort Worth. SOC means Security Operations Center — the team that watches for cyber threats</a:t>
            </a:r>
          </a:p>
          <a:p xmlns:a="http://schemas.openxmlformats.org/drawingml/2006/main">
            <a:r>
              <a:t>• This portfolio shows how I think about risk, write clear documentation, and solve problems</a:t>
            </a:r>
          </a:p>
          <a:p xmlns:a="http://schemas.openxmlformats.org/drawingml/2006/main">
            <a:r>
              <a:t>• My theme: Protect systems. Solve problems. Keep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02 — About Me</a:t>
            </a:r>
          </a:p>
          <a:p xmlns:a="http://schemas.openxmlformats.org/drawingml/2006/main">
            <a:r>
              <a:t>Timing: 0:42–1:23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I’m detail-oriented because security work depends on people who notice problems early</a:t>
            </a:r>
          </a:p>
          <a:p xmlns:a="http://schemas.openxmlformats.org/drawingml/2006/main">
            <a:r>
              <a:t>• My previous jobs taught me reliability, following processes, teamwork, and clear documentation</a:t>
            </a:r>
          </a:p>
          <a:p xmlns:a="http://schemas.openxmlformats.org/drawingml/2006/main">
            <a:r>
              <a:t>• My main strengths: risk assessment, finding and fixing vulnerabilities, network security, and web application security</a:t>
            </a:r>
          </a:p>
          <a:p xmlns:a="http://schemas.openxmlformats.org/drawingml/2006/main">
            <a:r>
              <a:t>• I also have skills in Linux, encryption, databases, Python, SQL (Structured Query Language), and the basics of incident response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03 — Why These Projects</a:t>
            </a:r>
          </a:p>
          <a:p xmlns:a="http://schemas.openxmlformats.org/drawingml/2006/main">
            <a:r>
              <a:t>Timing: 1:23–1:52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 SOC Analyst watches systems, investigates alerts, decides what is most important, and explains findings clearly</a:t>
            </a:r>
          </a:p>
          <a:p xmlns:a="http://schemas.openxmlformats.org/drawingml/2006/main">
            <a:r>
              <a:t>• I chose projects that practice exactly those skills: thinking about risk, investigating problems, planning fixes, and writing clear documentation</a:t>
            </a:r>
          </a:p>
          <a:p xmlns:a="http://schemas.openxmlformats.org/drawingml/2006/main">
            <a:r>
              <a:t>• Eight projects total — six cybersecurity case studies plus programming and e-commerce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04 — Project 1 — Northbridge Logistics Risk Assessment</a:t>
            </a:r>
          </a:p>
          <a:p xmlns:a="http://schemas.openxmlformats.org/drawingml/2006/main">
            <a:r>
              <a:t>Timing: 1:52–2:57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Risk assessment for a mid-sized logistics company: 150 employees, 3 offices, 180 computers, and 20 servers</a:t>
            </a:r>
          </a:p>
          <a:p xmlns:a="http://schemas.openxmlformats.org/drawingml/2006/main">
            <a:r>
              <a:t>• I listed the important assets, possible threats, weak points, how likely attacks were, and the business impact</a:t>
            </a:r>
          </a:p>
          <a:p xmlns:a="http://schemas.openxmlformats.org/drawingml/2006/main">
            <a:r>
              <a:t>• I recommended stronger logins using MFA (Multi-Factor Authentication), endpoint protection using EDR (Endpoint Detection and Response), network separation, SIEM (Security Information and Event Management), regular updates, and tested backups</a:t>
            </a:r>
          </a:p>
          <a:p xmlns:a="http://schemas.openxmlformats.org/drawingml/2006/main">
            <a:r>
              <a:t>• SOC takeaway: Turning technical findings into a clear, prioritized plan that leaders can act 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05 — Project 2 — SecureHealth Cryptography &amp; Network Security</a:t>
            </a:r>
          </a:p>
          <a:p xmlns:a="http://schemas.openxmlformats.org/drawingml/2006/main">
            <a:r>
              <a:t>Timing: 2:57–3:48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 designed a layered security plan to protect sensitive healthcare information</a:t>
            </a:r>
          </a:p>
          <a:p xmlns:a="http://schemas.openxmlformats.org/drawingml/2006/main">
            <a:r>
              <a:t>• I chose TLS 1.3 (Transport Layer Security) for data moving across the network and AES-256-GCM (Advanced Encryption Standard with Galois/Counter Mode) for stored data</a:t>
            </a:r>
          </a:p>
          <a:p xmlns:a="http://schemas.openxmlformats.org/drawingml/2006/main">
            <a:r>
              <a:t>• I also planned certificate and key management plus an IPsec VPN: Internet Protocol Security over a Virtual Private Network</a:t>
            </a:r>
          </a:p>
          <a:p xmlns:a="http://schemas.openxmlformats.org/drawingml/2006/main">
            <a:r>
              <a:t>• Key lesson: Strong encryption only works if keys are created, stored, rotated, and revoked safely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06 — Project 3 — Healthcare Clinic Secure Database Design</a:t>
            </a:r>
          </a:p>
          <a:p xmlns:a="http://schemas.openxmlformats.org/drawingml/2006/main">
            <a:r>
              <a:t>Timing: 3:48–4:35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 designed a clean PostgreSQL database model for a healthcare clinic focused on keeping data private, accurate, and available</a:t>
            </a:r>
          </a:p>
          <a:p xmlns:a="http://schemas.openxmlformats.org/drawingml/2006/main">
            <a:r>
              <a:t>• I used RBAC (Role-Based Access Control) so each staff member only sees what they need</a:t>
            </a:r>
          </a:p>
          <a:p xmlns:a="http://schemas.openxmlformats.org/drawingml/2006/main">
            <a:r>
              <a:t>• I recommended encryption, secure connections, activity logs, backups, and a recovery plan</a:t>
            </a:r>
          </a:p>
          <a:p xmlns:a="http://schemas.openxmlformats.org/drawingml/2006/main">
            <a:r>
              <a:t>• SOC takeaway: Weak access control and missing logs can turn a small problem into a serious incident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07 — Project 4 — RetailHub OWASP Web App Assessment</a:t>
            </a:r>
          </a:p>
          <a:p xmlns:a="http://schemas.openxmlformats.org/drawingml/2006/main">
            <a:r>
              <a:t>Timing: 4:35–5:28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 reviewed an online store against the OWASP Top 10. OWASP means Open Worldwide Application Security Project, and its Top 10 highlights critical web application risks</a:t>
            </a:r>
          </a:p>
          <a:p xmlns:a="http://schemas.openxmlformats.org/drawingml/2006/main">
            <a:r>
              <a:t>• The highest risks were broken access control, injection attacks, XSS (Cross-Site Scripting), weak logins, and missing logs</a:t>
            </a:r>
          </a:p>
          <a:p xmlns:a="http://schemas.openxmlformats.org/drawingml/2006/main">
            <a:r>
              <a:t>• I recommended multi-factor login, stronger permissions, input checking, secure coding, automated testing, better logging, and a WAF (Web Application Firewall)</a:t>
            </a:r>
          </a:p>
          <a:p xmlns:a="http://schemas.openxmlformats.org/drawingml/2006/main">
            <a:r>
              <a:t>• SOC connection: Web weaknesses create alerts, incidents, customer problems, and business risk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08 — Project 5 — ABC Logistics Threat &amp; Vulnerability Mgmt</a:t>
            </a:r>
          </a:p>
          <a:p xmlns:a="http://schemas.openxmlformats.org/drawingml/2006/main">
            <a:r>
              <a:t>Timing: 5:28–6:19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 built a clear process: discover → prioritize → fix → verify → report</a:t>
            </a:r>
          </a:p>
          <a:p xmlns:a="http://schemas.openxmlformats.org/drawingml/2006/main">
            <a:r>
              <a:t>• I ranked problems using CVSS (Common Vulnerability Scoring System), exploitability, system importance, and business impact</a:t>
            </a:r>
          </a:p>
          <a:p xmlns:a="http://schemas.openxmlformats.org/drawingml/2006/main">
            <a:r>
              <a:t>• Every step included who owns the fix, what evidence is needed, re-checking after the fix, and reporting to leadership</a:t>
            </a:r>
          </a:p>
          <a:p xmlns:a="http://schemas.openxmlformats.org/drawingml/2006/main">
            <a:r>
              <a:t>• This project is the closest to real day-to-day security operations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09 — Project 6 — IoT (Internet of Things) Smart Home Monitoring System</a:t>
            </a:r>
          </a:p>
          <a:p xmlns:a="http://schemas.openxmlformats.org/drawingml/2006/main">
            <a:r>
              <a:t>Timing: 6:19–7:09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 designed the full system path: sensors → Raspberry Pi → message broker → dashboard and alerts</a:t>
            </a:r>
          </a:p>
          <a:p xmlns:a="http://schemas.openxmlformats.org/drawingml/2006/main">
            <a:r>
              <a:t>• I required MQTT over TLS: Message Queuing Telemetry Transport protected by Transport Layer Security, so sensor data stays private while moving</a:t>
            </a:r>
          </a:p>
          <a:p xmlns:a="http://schemas.openxmlformats.org/drawingml/2006/main">
            <a:r>
              <a:t>• The design includes local storage if the internet goes down, sensor calibration, and alerts when readings go outside safe limits</a:t>
            </a:r>
          </a:p>
          <a:p xmlns:a="http://schemas.openxmlformats.org/drawingml/2006/main">
            <a:r>
              <a:t>• Key lesson: Every connected device gives useful data but also adds new security and reliability risks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10 — Additional Project — Food Expense Tracker</a:t>
            </a:r>
          </a:p>
          <a:p xmlns:a="http://schemas.openxmlformats.org/drawingml/2006/main">
            <a:r>
              <a:t>Timing: 7:09–7:55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 built a desktop app with Python and Tkinter as a programming practice project</a:t>
            </a:r>
          </a:p>
          <a:p xmlns:a="http://schemas.openxmlformats.org/drawingml/2006/main">
            <a:r>
              <a:t>• Users can add, edit, delete, search, filter, and sort expense records</a:t>
            </a:r>
          </a:p>
          <a:p xmlns:a="http://schemas.openxmlformats.org/drawingml/2006/main">
            <a:r>
              <a:t>• It saves data in JSON (JavaScript Object Notation), checks user input, calculates totals, and exports CSV (Comma-Separated Values)</a:t>
            </a:r>
          </a:p>
          <a:p xmlns:a="http://schemas.openxmlformats.org/drawingml/2006/main">
            <a:r>
              <a:t>• This shows practical programming, handling structured data, and building something useful for users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11 — Additional Project — MAKEDA (Queen of Sheba)</a:t>
            </a:r>
          </a:p>
          <a:p xmlns:a="http://schemas.openxmlformats.org/drawingml/2006/main">
            <a:r>
              <a:t>Timing: 7:55–8:36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 created a Shopify online store focused on Ethiopian-inspired fashion with clear product organization and good mobile experience</a:t>
            </a:r>
          </a:p>
          <a:p xmlns:a="http://schemas.openxmlformats.org/drawingml/2006/main">
            <a:r>
              <a:t>• I paid attention to security: multi-factor login for the admin account, limited permissions, secure checkout, and customer privacy</a:t>
            </a:r>
          </a:p>
          <a:p xmlns:a="http://schemas.openxmlformats.org/drawingml/2006/main">
            <a:r>
              <a:t>• It shows that technical choices must support both business goals and customer trust</a:t>
            </a:r>
          </a:p>
          <a:p xmlns:a="http://schemas.openxmlformats.org/drawingml/2006/main">
            <a:r>
              <a:t>• This connects to the RetailHub project — online stores must protect customers, data, payments, and reputation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12 — Live GitHub Portfolio</a:t>
            </a:r>
          </a:p>
          <a:p xmlns:a="http://schemas.openxmlformats.org/drawingml/2006/main">
            <a:r>
              <a:t>Timing: 8:36–9:08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My GitHub Pages website brings all eight projects together in one easy-to-explore place</a:t>
            </a:r>
          </a:p>
          <a:p xmlns:a="http://schemas.openxmlformats.org/drawingml/2006/main">
            <a:r>
              <a:t>• Recruiters can look at the case studies, diagrams, documentation, the live practice demo, and the MAKEDA store</a:t>
            </a:r>
          </a:p>
          <a:p xmlns:a="http://schemas.openxmlformats.org/drawingml/2006/main">
            <a:r>
              <a:t>• Every project follows a clear story: problem → approach → tools and ideas → result or recommendation</a:t>
            </a:r>
          </a:p>
          <a:p xmlns:a="http://schemas.openxmlformats.org/drawingml/2006/main">
            <a:r>
              <a:t>• My goal is to make the work easy to understand and discuss in an interview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13 — Certifications &amp; Growth</a:t>
            </a:r>
          </a:p>
          <a:p xmlns:a="http://schemas.openxmlformats.org/drawingml/2006/main">
            <a:r>
              <a:t>Timing: 9:08–9:32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Completed: Google Foundations of Cybersecurity</a:t>
            </a:r>
          </a:p>
          <a:p xmlns:a="http://schemas.openxmlformats.org/drawingml/2006/main">
            <a:r>
              <a:t>• In progress: Google Cybersecurity Professional Certificate</a:t>
            </a:r>
          </a:p>
          <a:p xmlns:a="http://schemas.openxmlformats.org/drawingml/2006/main">
            <a:r>
              <a:t>• Next milestone: CompTIA Security+</a:t>
            </a:r>
          </a:p>
          <a:p xmlns:a="http://schemas.openxmlformats.org/drawingml/2006/main">
            <a:r>
              <a:t>• Next focus: more hands-on SOC practice — reading logs, responding to incidents, and monitoring 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14 — Closing</a:t>
            </a:r>
          </a:p>
          <a:p xmlns:a="http://schemas.openxmlformats.org/drawingml/2006/main">
            <a:r>
              <a:t>Timing: 9:32–10:00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My portfolio turns school projects into clear, risk-focused career preparation</a:t>
            </a:r>
          </a:p>
          <a:p xmlns:a="http://schemas.openxmlformats.org/drawingml/2006/main">
            <a:r>
              <a:t>• I’m ready to contribute as a careful, process-oriented junior analyst who communicates clearly</a:t>
            </a:r>
          </a:p>
          <a:p xmlns:a="http://schemas.openxmlformats.org/drawingml/2006/main">
            <a:r>
              <a:t>• I’m looking for the chance to learn from experienced SOC professionals in Dallas–Fort Worth</a:t>
            </a:r>
          </a:p>
          <a:p xmlns:a="http://schemas.openxmlformats.org/drawingml/2006/main">
            <a:r>
              <a:t>• Thank you — I’m happy to answer any questions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 15 — Technical Acronym Glossary</a:t>
            </a:r>
          </a:p>
          <a:p xmlns:a="http://schemas.openxmlformats.org/drawingml/2006/main">
            <a:r>
              <a:t>Timing: Reference — not timed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IT: Information Technology · SOC: Security Operations Center</a:t>
            </a:r>
          </a:p>
          <a:p xmlns:a="http://schemas.openxmlformats.org/drawingml/2006/main">
            <a:r>
              <a:t>• MFA: Multi-Factor Authentication · EDR: Endpoint Detection and Response</a:t>
            </a:r>
          </a:p>
          <a:p xmlns:a="http://schemas.openxmlformats.org/drawingml/2006/main">
            <a:r>
              <a:t>• SIEM: Security Information and Event Management · SQL: Structured Query Language</a:t>
            </a:r>
          </a:p>
          <a:p xmlns:a="http://schemas.openxmlformats.org/drawingml/2006/main">
            <a:r>
              <a:t>• TLS: Transport Layer Security · AES: Advanced Encryption Standard · GCM: Galois/Counter Mode</a:t>
            </a:r>
          </a:p>
          <a:p xmlns:a="http://schemas.openxmlformats.org/drawingml/2006/main">
            <a:r>
              <a:t>• IPsec: Internet Protocol Security · VPN: Virtual Private Network</a:t>
            </a:r>
          </a:p>
          <a:p xmlns:a="http://schemas.openxmlformats.org/drawingml/2006/main">
            <a:r>
              <a:t>• RBAC: Role-Based Access Control · OWASP: Open Worldwide Application Security Project</a:t>
            </a:r>
          </a:p>
          <a:p xmlns:a="http://schemas.openxmlformats.org/drawingml/2006/main">
            <a:r>
              <a:t>• XSS: Cross-Site Scripting · WAF: Web Application Firewall</a:t>
            </a:r>
          </a:p>
          <a:p xmlns:a="http://schemas.openxmlformats.org/drawingml/2006/main">
            <a:r>
              <a:t>• CVSS: Common Vulnerability Scoring System · IoT: Internet of Things</a:t>
            </a:r>
          </a:p>
          <a:p xmlns:a="http://schemas.openxmlformats.org/drawingml/2006/main">
            <a:r>
              <a:t>• MQTT: Message Queuing Telemetry Transport · JSON: JavaScript Object Notation · CSV: Comma-Separated Values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fdea39e7344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e9985e958401a" /><Relationship Type="http://schemas.openxmlformats.org/officeDocument/2006/relationships/slideLayout" Target="/ppt/slideLayouts/slideLayout1.xml" Id="R9182248dd773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2248dd773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f0ace8a6c494e" /><Relationship Type="http://schemas.openxmlformats.org/officeDocument/2006/relationships/notesSlide" Target="/ppt/notesSlides/notesSlide1.xml" Id="R4bf7f3edb1ca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93772d1c4598" /><Relationship Type="http://schemas.openxmlformats.org/officeDocument/2006/relationships/notesSlide" Target="/ppt/notesSlides/notesSlide2.xml" Id="Rc80d92f90eaa40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47c3d7533451e" /><Relationship Type="http://schemas.openxmlformats.org/officeDocument/2006/relationships/notesSlide" Target="/ppt/notesSlides/notesSlide3.xml" Id="Rd3a03d21b0b7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5f538e9a349be" /><Relationship Type="http://schemas.openxmlformats.org/officeDocument/2006/relationships/notesSlide" Target="/ppt/notesSlides/notesSlide4.xml" Id="R5ff587823fa3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7956d9d9948e8" /><Relationship Type="http://schemas.openxmlformats.org/officeDocument/2006/relationships/notesSlide" Target="/ppt/notesSlides/notesSlide5.xml" Id="R697ce6cccfaf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2ac1e5a3a47ce" /><Relationship Type="http://schemas.openxmlformats.org/officeDocument/2006/relationships/notesSlide" Target="/ppt/notesSlides/notesSlide6.xml" Id="R48146b3084c946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315156a444238" /><Relationship Type="http://schemas.openxmlformats.org/officeDocument/2006/relationships/notesSlide" Target="/ppt/notesSlides/notesSlide7.xml" Id="R00b41055b4be44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d1ba12d44cad" /><Relationship Type="http://schemas.openxmlformats.org/officeDocument/2006/relationships/notesSlide" Target="/ppt/notesSlides/notesSlide8.xml" Id="Rdb0be48f9d9f4c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a4b80785e4d52" /><Relationship Type="http://schemas.openxmlformats.org/officeDocument/2006/relationships/notesSlide" Target="/ppt/notesSlides/notesSlide9.xml" Id="Rd5137e0bbc8444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0d19c6b1e483c" /><Relationship Type="http://schemas.openxmlformats.org/officeDocument/2006/relationships/notesSlide" Target="/ppt/notesSlides/notesSlide10.xml" Id="R3f2a703b4a9a4d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cd6f550324b82" /><Relationship Type="http://schemas.openxmlformats.org/officeDocument/2006/relationships/notesSlide" Target="/ppt/notesSlides/notesSlide11.xml" Id="R7991d644a5d64d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7b4e3a11346bb" /><Relationship Type="http://schemas.openxmlformats.org/officeDocument/2006/relationships/notesSlide" Target="/ppt/notesSlides/notesSlide12.xml" Id="R736a3c791f7d43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e53419b6040e9" /><Relationship Type="http://schemas.openxmlformats.org/officeDocument/2006/relationships/notesSlide" Target="/ppt/notesSlides/notesSlide13.xml" Id="Rd2272911875d40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b9fa723d84c36" /><Relationship Type="http://schemas.openxmlformats.org/officeDocument/2006/relationships/notesSlide" Target="/ppt/notesSlides/notesSlide14.xml" Id="Raee4aec4195b47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553b491a94176" /><Relationship Type="http://schemas.openxmlformats.org/officeDocument/2006/relationships/notesSlide" Target="/ppt/notesSlides/notesSlide15.xml" Id="R4b4f670cc577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1">
            <a:extLst xmlns:a="http://schemas.openxmlformats.org/drawingml/2006/main">
              <a:ext uri="{FF2B5EF4-FFF2-40B4-BE49-F238E27FC236}">
                <a16:creationId xmlns:a16="http://schemas.microsoft.com/office/drawing/2014/main" id="{2E27042D-8E30-4D9D-9FF3-CF55C3A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01</a:t>
            </a:r>
          </a:p>
        </p:txBody>
      </p:sp>
      <p:sp>
        <p:nvSpPr>
          <p:cNvPr id="2" name="timing-01">
            <a:extLst xmlns:a="http://schemas.openxmlformats.org/drawingml/2006/main">
              <a:ext uri="{FF2B5EF4-FFF2-40B4-BE49-F238E27FC236}">
                <a16:creationId xmlns:a16="http://schemas.microsoft.com/office/drawing/2014/main" id="{ACC6390D-1D61-4CE8-8FF4-0917A6ED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0:00–0:42</a:t>
            </a:r>
          </a:p>
        </p:txBody>
      </p:sp>
      <p:sp>
        <p:nvSpPr>
          <p:cNvPr id="3" name="accent-rule-01">
            <a:extLst xmlns:a="http://schemas.openxmlformats.org/drawingml/2006/main">
              <a:ext uri="{FF2B5EF4-FFF2-40B4-BE49-F238E27FC236}">
                <a16:creationId xmlns:a16="http://schemas.microsoft.com/office/drawing/2014/main" id="{A2ACE0B5-41D1-4C3D-BB56-1A87B0C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1">
            <a:extLst xmlns:a="http://schemas.openxmlformats.org/drawingml/2006/main">
              <a:ext uri="{FF2B5EF4-FFF2-40B4-BE49-F238E27FC236}">
                <a16:creationId xmlns:a16="http://schemas.microsoft.com/office/drawing/2014/main" id="{87378C08-A28D-45FE-A6CE-60B313D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1">
            <a:extLst xmlns:a="http://schemas.openxmlformats.org/drawingml/2006/main">
              <a:ext uri="{FF2B5EF4-FFF2-40B4-BE49-F238E27FC236}">
                <a16:creationId xmlns:a16="http://schemas.microsoft.com/office/drawing/2014/main" id="{629A6A48-4A22-44AF-8109-ED6765EC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01 / 15</a:t>
            </a:r>
          </a:p>
        </p:txBody>
      </p:sp>
      <p:sp>
        <p:nvSpPr>
          <p:cNvPr id="6" name="title-01">
            <a:extLst xmlns:a="http://schemas.openxmlformats.org/drawingml/2006/main">
              <a:ext uri="{FF2B5EF4-FFF2-40B4-BE49-F238E27FC236}">
                <a16:creationId xmlns:a16="http://schemas.microsoft.com/office/drawing/2014/main" id="{69BE8D7B-A6D5-4367-A968-9D80410B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7" name="section-01">
            <a:extLst xmlns:a="http://schemas.openxmlformats.org/drawingml/2006/main">
              <a:ext uri="{FF2B5EF4-FFF2-40B4-BE49-F238E27FC236}">
                <a16:creationId xmlns:a16="http://schemas.microsoft.com/office/drawing/2014/main" id="{C6EDF91A-0135-4128-B45F-AFC90F66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1">
            <a:extLst xmlns:a="http://schemas.openxmlformats.org/drawingml/2006/main">
              <a:ext uri="{FF2B5EF4-FFF2-40B4-BE49-F238E27FC236}">
                <a16:creationId xmlns:a16="http://schemas.microsoft.com/office/drawing/2014/main" id="{542264D9-00A6-406D-B1BF-53602BE4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108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I’m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Ayalew Cherenet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, an Information Technology (IT) and Cybersecurity student at Wade College graduating in September 2026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My goal is an entry-level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SOC Analyst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job in Dallas–Fort Worth. SOC means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Security Operations Center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— the team that watches for cyber threats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This portfolio shows how I think about risk, write clear documentation, and solve problems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My theme: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Protect systems. Solve problems. Keep learning.</a:t>
            </a:r>
          </a:p>
        </p:txBody>
      </p:sp>
    </p:spTree>
    <p:extLst>
      <p:ext uri="{BB962C8B-B14F-4D97-AF65-F5344CB8AC3E}">
        <p14:creationId xmlns:p14="http://schemas.microsoft.com/office/powerpoint/2010/main" val="1148809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2">
            <a:extLst xmlns:a="http://schemas.openxmlformats.org/drawingml/2006/main">
              <a:ext uri="{FF2B5EF4-FFF2-40B4-BE49-F238E27FC236}">
                <a16:creationId xmlns:a16="http://schemas.microsoft.com/office/drawing/2014/main" id="{21E83DD3-49D0-4487-836A-FDDF05C9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02</a:t>
            </a:r>
          </a:p>
        </p:txBody>
      </p:sp>
      <p:sp>
        <p:nvSpPr>
          <p:cNvPr id="2" name="timing-02">
            <a:extLst xmlns:a="http://schemas.openxmlformats.org/drawingml/2006/main">
              <a:ext uri="{FF2B5EF4-FFF2-40B4-BE49-F238E27FC236}">
                <a16:creationId xmlns:a16="http://schemas.microsoft.com/office/drawing/2014/main" id="{0C71CB8B-E839-4791-9EF2-17E024B9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0:42–1:23</a:t>
            </a:r>
          </a:p>
        </p:txBody>
      </p:sp>
      <p:sp>
        <p:nvSpPr>
          <p:cNvPr id="3" name="accent-rule-02">
            <a:extLst xmlns:a="http://schemas.openxmlformats.org/drawingml/2006/main">
              <a:ext uri="{FF2B5EF4-FFF2-40B4-BE49-F238E27FC236}">
                <a16:creationId xmlns:a16="http://schemas.microsoft.com/office/drawing/2014/main" id="{642A2A71-D68D-43A1-BD24-44A4D08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2">
            <a:extLst xmlns:a="http://schemas.openxmlformats.org/drawingml/2006/main">
              <a:ext uri="{FF2B5EF4-FFF2-40B4-BE49-F238E27FC236}">
                <a16:creationId xmlns:a16="http://schemas.microsoft.com/office/drawing/2014/main" id="{1617433E-07C9-4768-A732-6EAA5F0E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2">
            <a:extLst xmlns:a="http://schemas.openxmlformats.org/drawingml/2006/main">
              <a:ext uri="{FF2B5EF4-FFF2-40B4-BE49-F238E27FC236}">
                <a16:creationId xmlns:a16="http://schemas.microsoft.com/office/drawing/2014/main" id="{A209A799-82E8-4C16-B455-A58D1D2D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  <p:sp>
        <p:nvSpPr>
          <p:cNvPr id="6" name="title-02">
            <a:extLst xmlns:a="http://schemas.openxmlformats.org/drawingml/2006/main">
              <a:ext uri="{FF2B5EF4-FFF2-40B4-BE49-F238E27FC236}">
                <a16:creationId xmlns:a16="http://schemas.microsoft.com/office/drawing/2014/main" id="{119ECF6F-6FDE-427B-BE0A-5215079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About Me</a:t>
            </a:r>
          </a:p>
        </p:txBody>
      </p:sp>
      <p:sp>
        <p:nvSpPr>
          <p:cNvPr id="7" name="section-02">
            <a:extLst xmlns:a="http://schemas.openxmlformats.org/drawingml/2006/main">
              <a:ext uri="{FF2B5EF4-FFF2-40B4-BE49-F238E27FC236}">
                <a16:creationId xmlns:a16="http://schemas.microsoft.com/office/drawing/2014/main" id="{CF37373F-F296-4574-AC1F-4C4D7CC1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2">
            <a:extLst xmlns:a="http://schemas.openxmlformats.org/drawingml/2006/main">
              <a:ext uri="{FF2B5EF4-FFF2-40B4-BE49-F238E27FC236}">
                <a16:creationId xmlns:a16="http://schemas.microsoft.com/office/drawing/2014/main" id="{7913CC3D-4E1A-4F41-9245-6668C70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108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I’m detail-oriented because security work depends on people who notice problems early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My previous jobs taught me reliability, following processes, teamwork, and clear documentation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My main strengths: risk assessment, finding and fixing vulnerabilities, network security, and web application security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also have skills in Linux, encryption, databases, Python, SQL (Structured Query Language), and the basics of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1166216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3">
            <a:extLst xmlns:a="http://schemas.openxmlformats.org/drawingml/2006/main">
              <a:ext uri="{FF2B5EF4-FFF2-40B4-BE49-F238E27FC236}">
                <a16:creationId xmlns:a16="http://schemas.microsoft.com/office/drawing/2014/main" id="{046736C9-5A46-497A-A73B-6969B277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03</a:t>
            </a:r>
          </a:p>
        </p:txBody>
      </p:sp>
      <p:sp>
        <p:nvSpPr>
          <p:cNvPr id="2" name="timing-03">
            <a:extLst xmlns:a="http://schemas.openxmlformats.org/drawingml/2006/main">
              <a:ext uri="{FF2B5EF4-FFF2-40B4-BE49-F238E27FC236}">
                <a16:creationId xmlns:a16="http://schemas.microsoft.com/office/drawing/2014/main" id="{671010F3-6DD8-4820-BCE5-216CBA9D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1:23–1:52</a:t>
            </a:r>
          </a:p>
        </p:txBody>
      </p:sp>
      <p:sp>
        <p:nvSpPr>
          <p:cNvPr id="3" name="accent-rule-03">
            <a:extLst xmlns:a="http://schemas.openxmlformats.org/drawingml/2006/main">
              <a:ext uri="{FF2B5EF4-FFF2-40B4-BE49-F238E27FC236}">
                <a16:creationId xmlns:a16="http://schemas.microsoft.com/office/drawing/2014/main" id="{62B00C5F-B586-41A9-B217-0977B82D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3">
            <a:extLst xmlns:a="http://schemas.openxmlformats.org/drawingml/2006/main">
              <a:ext uri="{FF2B5EF4-FFF2-40B4-BE49-F238E27FC236}">
                <a16:creationId xmlns:a16="http://schemas.microsoft.com/office/drawing/2014/main" id="{9829965A-43C6-4C30-BC2B-C5EB04C2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3">
            <a:extLst xmlns:a="http://schemas.openxmlformats.org/drawingml/2006/main">
              <a:ext uri="{FF2B5EF4-FFF2-40B4-BE49-F238E27FC236}">
                <a16:creationId xmlns:a16="http://schemas.microsoft.com/office/drawing/2014/main" id="{9D2DA912-443D-4082-95E5-6C3F40A7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  <p:sp>
        <p:nvSpPr>
          <p:cNvPr id="6" name="title-03">
            <a:extLst xmlns:a="http://schemas.openxmlformats.org/drawingml/2006/main">
              <a:ext uri="{FF2B5EF4-FFF2-40B4-BE49-F238E27FC236}">
                <a16:creationId xmlns:a16="http://schemas.microsoft.com/office/drawing/2014/main" id="{9FFC4015-FE32-45E7-BD85-2B1B23AE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Why These Projects</a:t>
            </a:r>
          </a:p>
        </p:txBody>
      </p:sp>
      <p:sp>
        <p:nvSpPr>
          <p:cNvPr id="7" name="section-03">
            <a:extLst xmlns:a="http://schemas.openxmlformats.org/drawingml/2006/main">
              <a:ext uri="{FF2B5EF4-FFF2-40B4-BE49-F238E27FC236}">
                <a16:creationId xmlns:a16="http://schemas.microsoft.com/office/drawing/2014/main" id="{ABF080FA-DA2A-477A-98A1-59715F1C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3">
            <a:extLst xmlns:a="http://schemas.openxmlformats.org/drawingml/2006/main">
              <a:ext uri="{FF2B5EF4-FFF2-40B4-BE49-F238E27FC236}">
                <a16:creationId xmlns:a16="http://schemas.microsoft.com/office/drawing/2014/main" id="{8401BAFB-1C3F-4D32-927C-9A781BB7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108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14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A SOC Analyst watches systems, investigates alerts, decides what is most important, and explains findings clearly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14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chose projects that practice exactly those skills: thinking about risk, investigating problems, planning fixes, and writing clear documentation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14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Eight projects total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— six cybersecurity case studies plus programming and e-commerce work</a:t>
            </a:r>
          </a:p>
        </p:txBody>
      </p:sp>
    </p:spTree>
    <p:extLst>
      <p:ext uri="{BB962C8B-B14F-4D97-AF65-F5344CB8AC3E}">
        <p14:creationId xmlns:p14="http://schemas.microsoft.com/office/powerpoint/2010/main" val="1503331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4">
            <a:extLst xmlns:a="http://schemas.openxmlformats.org/drawingml/2006/main">
              <a:ext uri="{FF2B5EF4-FFF2-40B4-BE49-F238E27FC236}">
                <a16:creationId xmlns:a16="http://schemas.microsoft.com/office/drawing/2014/main" id="{8EC2C736-01A2-48F7-AD10-779948D0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04</a:t>
            </a:r>
          </a:p>
        </p:txBody>
      </p:sp>
      <p:sp>
        <p:nvSpPr>
          <p:cNvPr id="2" name="timing-04">
            <a:extLst xmlns:a="http://schemas.openxmlformats.org/drawingml/2006/main">
              <a:ext uri="{FF2B5EF4-FFF2-40B4-BE49-F238E27FC236}">
                <a16:creationId xmlns:a16="http://schemas.microsoft.com/office/drawing/2014/main" id="{FC07704F-98C4-415E-82EC-FB98E7F2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1:52–2:57</a:t>
            </a:r>
          </a:p>
        </p:txBody>
      </p:sp>
      <p:sp>
        <p:nvSpPr>
          <p:cNvPr id="3" name="accent-rule-04">
            <a:extLst xmlns:a="http://schemas.openxmlformats.org/drawingml/2006/main">
              <a:ext uri="{FF2B5EF4-FFF2-40B4-BE49-F238E27FC236}">
                <a16:creationId xmlns:a16="http://schemas.microsoft.com/office/drawing/2014/main" id="{0C257A50-093F-4CB2-BB3A-D11A8DBA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4">
            <a:extLst xmlns:a="http://schemas.openxmlformats.org/drawingml/2006/main">
              <a:ext uri="{FF2B5EF4-FFF2-40B4-BE49-F238E27FC236}">
                <a16:creationId xmlns:a16="http://schemas.microsoft.com/office/drawing/2014/main" id="{6C04B92C-172F-4114-A9D6-FA417FA6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4">
            <a:extLst xmlns:a="http://schemas.openxmlformats.org/drawingml/2006/main">
              <a:ext uri="{FF2B5EF4-FFF2-40B4-BE49-F238E27FC236}">
                <a16:creationId xmlns:a16="http://schemas.microsoft.com/office/drawing/2014/main" id="{1F94D8C2-15D9-4CCD-A0BA-214E06CC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  <p:sp>
        <p:nvSpPr>
          <p:cNvPr id="6" name="title-04">
            <a:extLst xmlns:a="http://schemas.openxmlformats.org/drawingml/2006/main">
              <a:ext uri="{FF2B5EF4-FFF2-40B4-BE49-F238E27FC236}">
                <a16:creationId xmlns:a16="http://schemas.microsoft.com/office/drawing/2014/main" id="{0F5702D1-BB57-46A5-8378-DBE34314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228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Project 1 — Northbridge Logistics Risk Assessment</a:t>
            </a:r>
          </a:p>
        </p:txBody>
      </p:sp>
      <p:sp>
        <p:nvSpPr>
          <p:cNvPr id="7" name="section-04">
            <a:extLst xmlns:a="http://schemas.openxmlformats.org/drawingml/2006/main">
              <a:ext uri="{FF2B5EF4-FFF2-40B4-BE49-F238E27FC236}">
                <a16:creationId xmlns:a16="http://schemas.microsoft.com/office/drawing/2014/main" id="{6B851448-3D6F-411E-9C9F-67A2162D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4">
            <a:extLst xmlns:a="http://schemas.openxmlformats.org/drawingml/2006/main">
              <a:ext uri="{FF2B5EF4-FFF2-40B4-BE49-F238E27FC236}">
                <a16:creationId xmlns:a16="http://schemas.microsoft.com/office/drawing/2014/main" id="{46F7E780-FFC8-41F2-81AF-BA04B773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610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Risk assessment for a mid-sized logistics company: 150 employees, 3 offices, 180 computers, and 20 servers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listed the important assets, possible threats, weak points, how likely attacks were, and the business impact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recommended stronger logins using MFA (Multi-Factor Authentication), endpoint protection using EDR (Endpoint Detection and Response), network separation, SIEM (Security Information and Event Management), regular updates, and tested backups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SOC takeaway: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Turning technical findings into a clear, prioritized plan that leaders can act on</a:t>
            </a:r>
          </a:p>
        </p:txBody>
      </p:sp>
    </p:spTree>
    <p:extLst>
      <p:ext uri="{BB962C8B-B14F-4D97-AF65-F5344CB8AC3E}">
        <p14:creationId xmlns:p14="http://schemas.microsoft.com/office/powerpoint/2010/main" val="1847980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5">
            <a:extLst xmlns:a="http://schemas.openxmlformats.org/drawingml/2006/main">
              <a:ext uri="{FF2B5EF4-FFF2-40B4-BE49-F238E27FC236}">
                <a16:creationId xmlns:a16="http://schemas.microsoft.com/office/drawing/2014/main" id="{C201064A-0E14-4435-B370-DC359647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05</a:t>
            </a:r>
          </a:p>
        </p:txBody>
      </p:sp>
      <p:sp>
        <p:nvSpPr>
          <p:cNvPr id="2" name="timing-05">
            <a:extLst xmlns:a="http://schemas.openxmlformats.org/drawingml/2006/main">
              <a:ext uri="{FF2B5EF4-FFF2-40B4-BE49-F238E27FC236}">
                <a16:creationId xmlns:a16="http://schemas.microsoft.com/office/drawing/2014/main" id="{BCC4E6F4-8539-43B0-B04D-089698E6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2:57–3:48</a:t>
            </a:r>
          </a:p>
        </p:txBody>
      </p:sp>
      <p:sp>
        <p:nvSpPr>
          <p:cNvPr id="3" name="accent-rule-05">
            <a:extLst xmlns:a="http://schemas.openxmlformats.org/drawingml/2006/main">
              <a:ext uri="{FF2B5EF4-FFF2-40B4-BE49-F238E27FC236}">
                <a16:creationId xmlns:a16="http://schemas.microsoft.com/office/drawing/2014/main" id="{74C92762-7DA8-4D0B-A64C-09A66B3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5">
            <a:extLst xmlns:a="http://schemas.openxmlformats.org/drawingml/2006/main">
              <a:ext uri="{FF2B5EF4-FFF2-40B4-BE49-F238E27FC236}">
                <a16:creationId xmlns:a16="http://schemas.microsoft.com/office/drawing/2014/main" id="{54CE7535-5D02-49B4-B244-539605FF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5">
            <a:extLst xmlns:a="http://schemas.openxmlformats.org/drawingml/2006/main">
              <a:ext uri="{FF2B5EF4-FFF2-40B4-BE49-F238E27FC236}">
                <a16:creationId xmlns:a16="http://schemas.microsoft.com/office/drawing/2014/main" id="{2A7998EA-261A-41FC-B807-24C04378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  <p:sp>
        <p:nvSpPr>
          <p:cNvPr id="6" name="title-05">
            <a:extLst xmlns:a="http://schemas.openxmlformats.org/drawingml/2006/main">
              <a:ext uri="{FF2B5EF4-FFF2-40B4-BE49-F238E27FC236}">
                <a16:creationId xmlns:a16="http://schemas.microsoft.com/office/drawing/2014/main" id="{4078FC78-EF30-4662-8431-A2471EF7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228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Project 2 — SecureHealth Cryptography &amp; Network Security</a:t>
            </a:r>
          </a:p>
        </p:txBody>
      </p:sp>
      <p:sp>
        <p:nvSpPr>
          <p:cNvPr id="7" name="section-05">
            <a:extLst xmlns:a="http://schemas.openxmlformats.org/drawingml/2006/main">
              <a:ext uri="{FF2B5EF4-FFF2-40B4-BE49-F238E27FC236}">
                <a16:creationId xmlns:a16="http://schemas.microsoft.com/office/drawing/2014/main" id="{66823287-E8EE-4EA2-A224-E179344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5">
            <a:extLst xmlns:a="http://schemas.openxmlformats.org/drawingml/2006/main">
              <a:ext uri="{FF2B5EF4-FFF2-40B4-BE49-F238E27FC236}">
                <a16:creationId xmlns:a16="http://schemas.microsoft.com/office/drawing/2014/main" id="{FF96A5A9-CB3B-48EF-B300-9036B425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610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I designed a layered security plan to protect sensitive healthcare information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I chose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TLS 1.3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(Transport Layer Security) for data moving across the network and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AES-256-GCM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(Advanced Encryption Standard with Galois/Counter Mode) for stored data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I also planned certificate and key management plus an IPsec VPN: Internet Protocol Security over a Virtual Private Network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Key lesson: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Strong encryption only works if keys are created, stored, rotated, and revoked safely</a:t>
            </a:r>
          </a:p>
        </p:txBody>
      </p:sp>
    </p:spTree>
    <p:extLst>
      <p:ext uri="{BB962C8B-B14F-4D97-AF65-F5344CB8AC3E}">
        <p14:creationId xmlns:p14="http://schemas.microsoft.com/office/powerpoint/2010/main" val="982304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6">
            <a:extLst xmlns:a="http://schemas.openxmlformats.org/drawingml/2006/main">
              <a:ext uri="{FF2B5EF4-FFF2-40B4-BE49-F238E27FC236}">
                <a16:creationId xmlns:a16="http://schemas.microsoft.com/office/drawing/2014/main" id="{E9280BA0-1AD3-4F13-A8E6-5F03859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06</a:t>
            </a:r>
          </a:p>
        </p:txBody>
      </p:sp>
      <p:sp>
        <p:nvSpPr>
          <p:cNvPr id="2" name="timing-06">
            <a:extLst xmlns:a="http://schemas.openxmlformats.org/drawingml/2006/main">
              <a:ext uri="{FF2B5EF4-FFF2-40B4-BE49-F238E27FC236}">
                <a16:creationId xmlns:a16="http://schemas.microsoft.com/office/drawing/2014/main" id="{FCB6D951-1918-464D-83F3-CF92857F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3:48–4:35</a:t>
            </a:r>
          </a:p>
        </p:txBody>
      </p:sp>
      <p:sp>
        <p:nvSpPr>
          <p:cNvPr id="3" name="accent-rule-06">
            <a:extLst xmlns:a="http://schemas.openxmlformats.org/drawingml/2006/main">
              <a:ext uri="{FF2B5EF4-FFF2-40B4-BE49-F238E27FC236}">
                <a16:creationId xmlns:a16="http://schemas.microsoft.com/office/drawing/2014/main" id="{C9A478B3-DDBF-4C66-A81A-892B978F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6">
            <a:extLst xmlns:a="http://schemas.openxmlformats.org/drawingml/2006/main">
              <a:ext uri="{FF2B5EF4-FFF2-40B4-BE49-F238E27FC236}">
                <a16:creationId xmlns:a16="http://schemas.microsoft.com/office/drawing/2014/main" id="{4A1B91FE-4532-4B9F-BF5F-4B96173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6">
            <a:extLst xmlns:a="http://schemas.openxmlformats.org/drawingml/2006/main">
              <a:ext uri="{FF2B5EF4-FFF2-40B4-BE49-F238E27FC236}">
                <a16:creationId xmlns:a16="http://schemas.microsoft.com/office/drawing/2014/main" id="{7333FCC9-F1CB-40B6-9814-E3E370C0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  <p:sp>
        <p:nvSpPr>
          <p:cNvPr id="6" name="title-06">
            <a:extLst xmlns:a="http://schemas.openxmlformats.org/drawingml/2006/main">
              <a:ext uri="{FF2B5EF4-FFF2-40B4-BE49-F238E27FC236}">
                <a16:creationId xmlns:a16="http://schemas.microsoft.com/office/drawing/2014/main" id="{EFC3E05A-FF67-4FA7-A75A-D7911F11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228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Project 3 — Healthcare Clinic Secure Database Design</a:t>
            </a:r>
          </a:p>
        </p:txBody>
      </p:sp>
      <p:sp>
        <p:nvSpPr>
          <p:cNvPr id="7" name="section-06">
            <a:extLst xmlns:a="http://schemas.openxmlformats.org/drawingml/2006/main">
              <a:ext uri="{FF2B5EF4-FFF2-40B4-BE49-F238E27FC236}">
                <a16:creationId xmlns:a16="http://schemas.microsoft.com/office/drawing/2014/main" id="{28ED90D2-CEB9-4083-93D3-3648634B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6">
            <a:extLst xmlns:a="http://schemas.openxmlformats.org/drawingml/2006/main">
              <a:ext uri="{FF2B5EF4-FFF2-40B4-BE49-F238E27FC236}">
                <a16:creationId xmlns:a16="http://schemas.microsoft.com/office/drawing/2014/main" id="{E1311045-26C5-4D0E-B399-282EA380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610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designed a clean PostgreSQL database model for a healthcare clinic focused on keeping data private, accurate, and available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used RBAC (Role-Based Access Control) so each staff member only sees what they need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recommended encryption, secure connections, activity logs, backups, and a recovery plan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SOC takeaway: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Weak access control and missing logs can turn a small problem into a serious incident</a:t>
            </a:r>
          </a:p>
        </p:txBody>
      </p:sp>
    </p:spTree>
    <p:extLst>
      <p:ext uri="{BB962C8B-B14F-4D97-AF65-F5344CB8AC3E}">
        <p14:creationId xmlns:p14="http://schemas.microsoft.com/office/powerpoint/2010/main" val="1177308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7">
            <a:extLst xmlns:a="http://schemas.openxmlformats.org/drawingml/2006/main">
              <a:ext uri="{FF2B5EF4-FFF2-40B4-BE49-F238E27FC236}">
                <a16:creationId xmlns:a16="http://schemas.microsoft.com/office/drawing/2014/main" id="{FC783AC3-1937-494C-A059-D73A90A0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07</a:t>
            </a:r>
          </a:p>
        </p:txBody>
      </p:sp>
      <p:sp>
        <p:nvSpPr>
          <p:cNvPr id="2" name="timing-07">
            <a:extLst xmlns:a="http://schemas.openxmlformats.org/drawingml/2006/main">
              <a:ext uri="{FF2B5EF4-FFF2-40B4-BE49-F238E27FC236}">
                <a16:creationId xmlns:a16="http://schemas.microsoft.com/office/drawing/2014/main" id="{13FED6E0-87E8-4864-A2FF-EE1F24EC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4:35–5:28</a:t>
            </a:r>
          </a:p>
        </p:txBody>
      </p:sp>
      <p:sp>
        <p:nvSpPr>
          <p:cNvPr id="3" name="accent-rule-07">
            <a:extLst xmlns:a="http://schemas.openxmlformats.org/drawingml/2006/main">
              <a:ext uri="{FF2B5EF4-FFF2-40B4-BE49-F238E27FC236}">
                <a16:creationId xmlns:a16="http://schemas.microsoft.com/office/drawing/2014/main" id="{B7136DA3-E521-4ADC-879B-0C05919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7">
            <a:extLst xmlns:a="http://schemas.openxmlformats.org/drawingml/2006/main">
              <a:ext uri="{FF2B5EF4-FFF2-40B4-BE49-F238E27FC236}">
                <a16:creationId xmlns:a16="http://schemas.microsoft.com/office/drawing/2014/main" id="{DED60046-6920-4AEB-AE91-22768AE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7">
            <a:extLst xmlns:a="http://schemas.openxmlformats.org/drawingml/2006/main">
              <a:ext uri="{FF2B5EF4-FFF2-40B4-BE49-F238E27FC236}">
                <a16:creationId xmlns:a16="http://schemas.microsoft.com/office/drawing/2014/main" id="{3E2BA2A0-6828-43C4-A223-E78A6B4C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  <p:sp>
        <p:nvSpPr>
          <p:cNvPr id="6" name="title-07">
            <a:extLst xmlns:a="http://schemas.openxmlformats.org/drawingml/2006/main">
              <a:ext uri="{FF2B5EF4-FFF2-40B4-BE49-F238E27FC236}">
                <a16:creationId xmlns:a16="http://schemas.microsoft.com/office/drawing/2014/main" id="{99AC985A-71BB-4CCC-803B-EE700B25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228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Project 4 — RetailHub OWASP Web App Assessment</a:t>
            </a:r>
          </a:p>
        </p:txBody>
      </p:sp>
      <p:sp>
        <p:nvSpPr>
          <p:cNvPr id="7" name="section-07">
            <a:extLst xmlns:a="http://schemas.openxmlformats.org/drawingml/2006/main">
              <a:ext uri="{FF2B5EF4-FFF2-40B4-BE49-F238E27FC236}">
                <a16:creationId xmlns:a16="http://schemas.microsoft.com/office/drawing/2014/main" id="{E47750C4-8760-4F7B-AE81-6CBBCAE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7">
            <a:extLst xmlns:a="http://schemas.openxmlformats.org/drawingml/2006/main">
              <a:ext uri="{FF2B5EF4-FFF2-40B4-BE49-F238E27FC236}">
                <a16:creationId xmlns:a16="http://schemas.microsoft.com/office/drawing/2014/main" id="{4C32962F-99DE-4CBD-9DD0-555B4A17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610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reviewed an online store against the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OWASP Top 10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. OWASP means Open Worldwide Application Security Project, and its Top 10 highlights critical web application risks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The highest risks were broken access control, injection attacks, XSS (Cross-Site Scripting), weak logins, and missing logs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recommended multi-factor login, stronger permissions, input checking, secure coding, automated testing, better logging, and a WAF (Web Application Firewall)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SOC connection: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Web weaknesses create alerts, incidents, customer problems, and business risk</a:t>
            </a:r>
          </a:p>
        </p:txBody>
      </p:sp>
    </p:spTree>
    <p:extLst>
      <p:ext uri="{BB962C8B-B14F-4D97-AF65-F5344CB8AC3E}">
        <p14:creationId xmlns:p14="http://schemas.microsoft.com/office/powerpoint/2010/main" val="1677326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8">
            <a:extLst xmlns:a="http://schemas.openxmlformats.org/drawingml/2006/main">
              <a:ext uri="{FF2B5EF4-FFF2-40B4-BE49-F238E27FC236}">
                <a16:creationId xmlns:a16="http://schemas.microsoft.com/office/drawing/2014/main" id="{8C829183-6750-4D12-A561-84E828F9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08</a:t>
            </a:r>
          </a:p>
        </p:txBody>
      </p:sp>
      <p:sp>
        <p:nvSpPr>
          <p:cNvPr id="2" name="timing-08">
            <a:extLst xmlns:a="http://schemas.openxmlformats.org/drawingml/2006/main">
              <a:ext uri="{FF2B5EF4-FFF2-40B4-BE49-F238E27FC236}">
                <a16:creationId xmlns:a16="http://schemas.microsoft.com/office/drawing/2014/main" id="{E35C962B-38D7-4D25-AF9C-505947E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5:28–6:19</a:t>
            </a:r>
          </a:p>
        </p:txBody>
      </p:sp>
      <p:sp>
        <p:nvSpPr>
          <p:cNvPr id="3" name="accent-rule-08">
            <a:extLst xmlns:a="http://schemas.openxmlformats.org/drawingml/2006/main">
              <a:ext uri="{FF2B5EF4-FFF2-40B4-BE49-F238E27FC236}">
                <a16:creationId xmlns:a16="http://schemas.microsoft.com/office/drawing/2014/main" id="{E0C51719-DCB2-482A-86DD-778FEBB2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8">
            <a:extLst xmlns:a="http://schemas.openxmlformats.org/drawingml/2006/main">
              <a:ext uri="{FF2B5EF4-FFF2-40B4-BE49-F238E27FC236}">
                <a16:creationId xmlns:a16="http://schemas.microsoft.com/office/drawing/2014/main" id="{D17FE36D-0435-4DF0-AE86-69FB6D23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8">
            <a:extLst xmlns:a="http://schemas.openxmlformats.org/drawingml/2006/main">
              <a:ext uri="{FF2B5EF4-FFF2-40B4-BE49-F238E27FC236}">
                <a16:creationId xmlns:a16="http://schemas.microsoft.com/office/drawing/2014/main" id="{9240AB95-6E7E-4851-B63F-FEB34D2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  <p:sp>
        <p:nvSpPr>
          <p:cNvPr id="6" name="title-08">
            <a:extLst xmlns:a="http://schemas.openxmlformats.org/drawingml/2006/main">
              <a:ext uri="{FF2B5EF4-FFF2-40B4-BE49-F238E27FC236}">
                <a16:creationId xmlns:a16="http://schemas.microsoft.com/office/drawing/2014/main" id="{26449D8D-5C74-4F39-B115-9E28EB68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228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Project 5 — ABC Logistics Threat &amp; Vulnerability Mgmt</a:t>
            </a:r>
          </a:p>
        </p:txBody>
      </p:sp>
      <p:sp>
        <p:nvSpPr>
          <p:cNvPr id="7" name="section-08">
            <a:extLst xmlns:a="http://schemas.openxmlformats.org/drawingml/2006/main">
              <a:ext uri="{FF2B5EF4-FFF2-40B4-BE49-F238E27FC236}">
                <a16:creationId xmlns:a16="http://schemas.microsoft.com/office/drawing/2014/main" id="{D001AECE-A8D7-4CEC-BBD5-591A8EC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8">
            <a:extLst xmlns:a="http://schemas.openxmlformats.org/drawingml/2006/main">
              <a:ext uri="{FF2B5EF4-FFF2-40B4-BE49-F238E27FC236}">
                <a16:creationId xmlns:a16="http://schemas.microsoft.com/office/drawing/2014/main" id="{A942C190-B306-436C-88EA-C305FB7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610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built a clear process: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discover → prioritize → fix → verify → report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ranked problems using CVSS (Common Vulnerability Scoring System), exploitability, system importance, and business impact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Every step included who owns the fix, what evidence is needed, re-checking after the fix, and reporting to leadership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This project is the closest to real day-to-day security operations work</a:t>
            </a:r>
          </a:p>
        </p:txBody>
      </p:sp>
    </p:spTree>
    <p:extLst>
      <p:ext uri="{BB962C8B-B14F-4D97-AF65-F5344CB8AC3E}">
        <p14:creationId xmlns:p14="http://schemas.microsoft.com/office/powerpoint/2010/main" val="551084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09">
            <a:extLst xmlns:a="http://schemas.openxmlformats.org/drawingml/2006/main">
              <a:ext uri="{FF2B5EF4-FFF2-40B4-BE49-F238E27FC236}">
                <a16:creationId xmlns:a16="http://schemas.microsoft.com/office/drawing/2014/main" id="{B705D161-8027-4B0D-966A-24A321E1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09</a:t>
            </a:r>
          </a:p>
        </p:txBody>
      </p:sp>
      <p:sp>
        <p:nvSpPr>
          <p:cNvPr id="2" name="timing-09">
            <a:extLst xmlns:a="http://schemas.openxmlformats.org/drawingml/2006/main">
              <a:ext uri="{FF2B5EF4-FFF2-40B4-BE49-F238E27FC236}">
                <a16:creationId xmlns:a16="http://schemas.microsoft.com/office/drawing/2014/main" id="{02A0F8F4-62FA-4BA9-91E2-DA012A1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6:19–7:09</a:t>
            </a:r>
          </a:p>
        </p:txBody>
      </p:sp>
      <p:sp>
        <p:nvSpPr>
          <p:cNvPr id="3" name="accent-rule-09">
            <a:extLst xmlns:a="http://schemas.openxmlformats.org/drawingml/2006/main">
              <a:ext uri="{FF2B5EF4-FFF2-40B4-BE49-F238E27FC236}">
                <a16:creationId xmlns:a16="http://schemas.microsoft.com/office/drawing/2014/main" id="{FA09F15B-2F32-4010-A35E-D3485C9D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09">
            <a:extLst xmlns:a="http://schemas.openxmlformats.org/drawingml/2006/main">
              <a:ext uri="{FF2B5EF4-FFF2-40B4-BE49-F238E27FC236}">
                <a16:creationId xmlns:a16="http://schemas.microsoft.com/office/drawing/2014/main" id="{3C3B6E63-4FF4-44E7-872D-B1534BD4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09">
            <a:extLst xmlns:a="http://schemas.openxmlformats.org/drawingml/2006/main">
              <a:ext uri="{FF2B5EF4-FFF2-40B4-BE49-F238E27FC236}">
                <a16:creationId xmlns:a16="http://schemas.microsoft.com/office/drawing/2014/main" id="{7002CB73-EFDF-4501-A21B-A301DEA6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  <p:sp>
        <p:nvSpPr>
          <p:cNvPr id="6" name="title-09">
            <a:extLst xmlns:a="http://schemas.openxmlformats.org/drawingml/2006/main">
              <a:ext uri="{FF2B5EF4-FFF2-40B4-BE49-F238E27FC236}">
                <a16:creationId xmlns:a16="http://schemas.microsoft.com/office/drawing/2014/main" id="{682D3B2E-91AF-4FC0-A00E-F2FF6249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161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4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Project 6 — IoT (Internet of Things) Smart Home Monitoring System</a:t>
            </a:r>
          </a:p>
        </p:txBody>
      </p:sp>
      <p:sp>
        <p:nvSpPr>
          <p:cNvPr id="7" name="section-09">
            <a:extLst xmlns:a="http://schemas.openxmlformats.org/drawingml/2006/main">
              <a:ext uri="{FF2B5EF4-FFF2-40B4-BE49-F238E27FC236}">
                <a16:creationId xmlns:a16="http://schemas.microsoft.com/office/drawing/2014/main" id="{611F3854-FF87-4C7C-81BE-A0FBCCAC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09">
            <a:extLst xmlns:a="http://schemas.openxmlformats.org/drawingml/2006/main">
              <a:ext uri="{FF2B5EF4-FFF2-40B4-BE49-F238E27FC236}">
                <a16:creationId xmlns:a16="http://schemas.microsoft.com/office/drawing/2014/main" id="{717A9CB5-F566-4C46-8B2C-BBEADEB8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610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I designed the full system path: sensors → Raspberry Pi → message broker → dashboard and alerts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I required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MQTT over TLS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: Message Queuing Telemetry Transport protected by Transport Layer Security, so sensor data stays private while moving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The design includes local storage if the internet goes down, sensor calibration, and alerts when readings go outside safe limits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Key lesson: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Every connected device gives useful data but also adds new security and reliability risks</a:t>
            </a:r>
          </a:p>
        </p:txBody>
      </p:sp>
    </p:spTree>
    <p:extLst>
      <p:ext uri="{BB962C8B-B14F-4D97-AF65-F5344CB8AC3E}">
        <p14:creationId xmlns:p14="http://schemas.microsoft.com/office/powerpoint/2010/main" val="1947199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10">
            <a:extLst xmlns:a="http://schemas.openxmlformats.org/drawingml/2006/main">
              <a:ext uri="{FF2B5EF4-FFF2-40B4-BE49-F238E27FC236}">
                <a16:creationId xmlns:a16="http://schemas.microsoft.com/office/drawing/2014/main" id="{EA92B8C4-19C6-407B-BC27-933D37E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10</a:t>
            </a:r>
          </a:p>
        </p:txBody>
      </p:sp>
      <p:sp>
        <p:nvSpPr>
          <p:cNvPr id="2" name="timing-10">
            <a:extLst xmlns:a="http://schemas.openxmlformats.org/drawingml/2006/main">
              <a:ext uri="{FF2B5EF4-FFF2-40B4-BE49-F238E27FC236}">
                <a16:creationId xmlns:a16="http://schemas.microsoft.com/office/drawing/2014/main" id="{91418F74-E6D8-4941-930C-6B637612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7:09–7:55</a:t>
            </a:r>
          </a:p>
        </p:txBody>
      </p:sp>
      <p:sp>
        <p:nvSpPr>
          <p:cNvPr id="3" name="accent-rule-10">
            <a:extLst xmlns:a="http://schemas.openxmlformats.org/drawingml/2006/main">
              <a:ext uri="{FF2B5EF4-FFF2-40B4-BE49-F238E27FC236}">
                <a16:creationId xmlns:a16="http://schemas.microsoft.com/office/drawing/2014/main" id="{EE9408A1-BD46-43BD-B790-ED54531B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078075AF-823E-4DCA-97DB-807E91FE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10">
            <a:extLst xmlns:a="http://schemas.openxmlformats.org/drawingml/2006/main">
              <a:ext uri="{FF2B5EF4-FFF2-40B4-BE49-F238E27FC236}">
                <a16:creationId xmlns:a16="http://schemas.microsoft.com/office/drawing/2014/main" id="{C01449CE-F0A0-4B60-A157-0BC64C8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ACC6E4E8-6AC0-4A50-9B31-05A58DBE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Additional Project — Food Expense Tracker</a:t>
            </a:r>
          </a:p>
        </p:txBody>
      </p:sp>
      <p:sp>
        <p:nvSpPr>
          <p:cNvPr id="7" name="section-10">
            <a:extLst xmlns:a="http://schemas.openxmlformats.org/drawingml/2006/main">
              <a:ext uri="{FF2B5EF4-FFF2-40B4-BE49-F238E27FC236}">
                <a16:creationId xmlns:a16="http://schemas.microsoft.com/office/drawing/2014/main" id="{FE56D6A5-1DD9-44C6-A708-0F30805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10">
            <a:extLst xmlns:a="http://schemas.openxmlformats.org/drawingml/2006/main">
              <a:ext uri="{FF2B5EF4-FFF2-40B4-BE49-F238E27FC236}">
                <a16:creationId xmlns:a16="http://schemas.microsoft.com/office/drawing/2014/main" id="{66CB9FD2-AF00-4423-9442-222EDDE9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108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built a desktop app with Python and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Tkinter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as a programming practice project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Users can add, edit, delete, search, filter, and sort expense records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It saves data in JSON (JavaScript Object Notation), checks user input, calculates totals, and exports CSV (Comma-Separated Values)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This shows practical programming, handling structured data, and building something useful for users</a:t>
            </a:r>
          </a:p>
        </p:txBody>
      </p:sp>
    </p:spTree>
    <p:extLst>
      <p:ext uri="{BB962C8B-B14F-4D97-AF65-F5344CB8AC3E}">
        <p14:creationId xmlns:p14="http://schemas.microsoft.com/office/powerpoint/2010/main" val="1640738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11">
            <a:extLst xmlns:a="http://schemas.openxmlformats.org/drawingml/2006/main">
              <a:ext uri="{FF2B5EF4-FFF2-40B4-BE49-F238E27FC236}">
                <a16:creationId xmlns:a16="http://schemas.microsoft.com/office/drawing/2014/main" id="{9CAEA6DB-8742-415F-ABCE-48173B89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11</a:t>
            </a:r>
          </a:p>
        </p:txBody>
      </p:sp>
      <p:sp>
        <p:nvSpPr>
          <p:cNvPr id="2" name="timing-11">
            <a:extLst xmlns:a="http://schemas.openxmlformats.org/drawingml/2006/main">
              <a:ext uri="{FF2B5EF4-FFF2-40B4-BE49-F238E27FC236}">
                <a16:creationId xmlns:a16="http://schemas.microsoft.com/office/drawing/2014/main" id="{D84749B2-B9C4-4544-AADC-C6536801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7:55–8:36</a:t>
            </a:r>
          </a:p>
        </p:txBody>
      </p:sp>
      <p:sp>
        <p:nvSpPr>
          <p:cNvPr id="3" name="accent-rule-11">
            <a:extLst xmlns:a="http://schemas.openxmlformats.org/drawingml/2006/main">
              <a:ext uri="{FF2B5EF4-FFF2-40B4-BE49-F238E27FC236}">
                <a16:creationId xmlns:a16="http://schemas.microsoft.com/office/drawing/2014/main" id="{61951E47-BB02-4EE1-96B1-5A1F6031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CD985BAE-3FE1-4797-AC56-88CF2990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11">
            <a:extLst xmlns:a="http://schemas.openxmlformats.org/drawingml/2006/main">
              <a:ext uri="{FF2B5EF4-FFF2-40B4-BE49-F238E27FC236}">
                <a16:creationId xmlns:a16="http://schemas.microsoft.com/office/drawing/2014/main" id="{94B52781-C335-441F-84AE-DFDE1D8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6" name="title-11">
            <a:extLst xmlns:a="http://schemas.openxmlformats.org/drawingml/2006/main">
              <a:ext uri="{FF2B5EF4-FFF2-40B4-BE49-F238E27FC236}">
                <a16:creationId xmlns:a16="http://schemas.microsoft.com/office/drawing/2014/main" id="{E735DE84-4E85-46E8-9358-75D4F8E8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219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Additional Project — MAKEDA (Queen of Sheba)</a:t>
            </a:r>
          </a:p>
        </p:txBody>
      </p:sp>
      <p:sp>
        <p:nvSpPr>
          <p:cNvPr id="7" name="section-11">
            <a:extLst xmlns:a="http://schemas.openxmlformats.org/drawingml/2006/main">
              <a:ext uri="{FF2B5EF4-FFF2-40B4-BE49-F238E27FC236}">
                <a16:creationId xmlns:a16="http://schemas.microsoft.com/office/drawing/2014/main" id="{5C7BF77D-BD1A-4D53-B465-F4D62BD6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11">
            <a:extLst xmlns:a="http://schemas.openxmlformats.org/drawingml/2006/main">
              <a:ext uri="{FF2B5EF4-FFF2-40B4-BE49-F238E27FC236}">
                <a16:creationId xmlns:a16="http://schemas.microsoft.com/office/drawing/2014/main" id="{02C52708-B433-4AE9-AA1D-D7C7E8B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6108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created a Shopify online store focused on Ethiopian-inspired fashion with clear product organization and good mobile experience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 paid attention to security: multi-factor login for the admin account, limited permissions, secure checkout, and customer privacy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It shows that technical choices must support both business goals and customer trust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This connects to the RetailHub project — online stores must protect customers, data, payments, and reputation</a:t>
            </a:r>
          </a:p>
        </p:txBody>
      </p:sp>
    </p:spTree>
    <p:extLst>
      <p:ext uri="{BB962C8B-B14F-4D97-AF65-F5344CB8AC3E}">
        <p14:creationId xmlns:p14="http://schemas.microsoft.com/office/powerpoint/2010/main" val="669251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12">
            <a:extLst xmlns:a="http://schemas.openxmlformats.org/drawingml/2006/main">
              <a:ext uri="{FF2B5EF4-FFF2-40B4-BE49-F238E27FC236}">
                <a16:creationId xmlns:a16="http://schemas.microsoft.com/office/drawing/2014/main" id="{57D6D0BB-B869-4E04-B786-CCB9D00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12</a:t>
            </a:r>
          </a:p>
        </p:txBody>
      </p:sp>
      <p:sp>
        <p:nvSpPr>
          <p:cNvPr id="2" name="timing-12">
            <a:extLst xmlns:a="http://schemas.openxmlformats.org/drawingml/2006/main">
              <a:ext uri="{FF2B5EF4-FFF2-40B4-BE49-F238E27FC236}">
                <a16:creationId xmlns:a16="http://schemas.microsoft.com/office/drawing/2014/main" id="{B3650921-F67D-4857-9FEC-1B4EE86E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8:36–9:08</a:t>
            </a:r>
          </a:p>
        </p:txBody>
      </p:sp>
      <p:sp>
        <p:nvSpPr>
          <p:cNvPr id="3" name="accent-rule-12">
            <a:extLst xmlns:a="http://schemas.openxmlformats.org/drawingml/2006/main">
              <a:ext uri="{FF2B5EF4-FFF2-40B4-BE49-F238E27FC236}">
                <a16:creationId xmlns:a16="http://schemas.microsoft.com/office/drawing/2014/main" id="{F960DA29-FCDE-4D35-8EBC-E5E8DD51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534DA052-189C-4E7A-A2A1-56EBFDE2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12">
            <a:extLst xmlns:a="http://schemas.openxmlformats.org/drawingml/2006/main">
              <a:ext uri="{FF2B5EF4-FFF2-40B4-BE49-F238E27FC236}">
                <a16:creationId xmlns:a16="http://schemas.microsoft.com/office/drawing/2014/main" id="{81EAF617-C4A3-40D8-8422-784FE73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8C350F04-ABCC-43BD-B103-BBE3CFD0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Live GitHub Portfolio</a:t>
            </a:r>
          </a:p>
        </p:txBody>
      </p:sp>
      <p:sp>
        <p:nvSpPr>
          <p:cNvPr id="7" name="section-12">
            <a:extLst xmlns:a="http://schemas.openxmlformats.org/drawingml/2006/main">
              <a:ext uri="{FF2B5EF4-FFF2-40B4-BE49-F238E27FC236}">
                <a16:creationId xmlns:a16="http://schemas.microsoft.com/office/drawing/2014/main" id="{FF21BE30-E6E1-44A9-B661-4EF02185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12">
            <a:extLst xmlns:a="http://schemas.openxmlformats.org/drawingml/2006/main">
              <a:ext uri="{FF2B5EF4-FFF2-40B4-BE49-F238E27FC236}">
                <a16:creationId xmlns:a16="http://schemas.microsoft.com/office/drawing/2014/main" id="{A489403A-5367-4C07-BB6E-F502DBBD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108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My GitHub Pages website brings all eight projects together in one easy-to-explore place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Recruiters can look at the case studies, diagrams, documentation, the live practice demo, and the MAKEDA store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Every project follows a clear story: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problem → approach → tools and ideas → result or recommendation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My goal is to make the work easy to understand and discuss in an interview</a:t>
            </a:r>
          </a:p>
        </p:txBody>
      </p:sp>
    </p:spTree>
    <p:extLst>
      <p:ext uri="{BB962C8B-B14F-4D97-AF65-F5344CB8AC3E}">
        <p14:creationId xmlns:p14="http://schemas.microsoft.com/office/powerpoint/2010/main" val="783284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13">
            <a:extLst xmlns:a="http://schemas.openxmlformats.org/drawingml/2006/main">
              <a:ext uri="{FF2B5EF4-FFF2-40B4-BE49-F238E27FC236}">
                <a16:creationId xmlns:a16="http://schemas.microsoft.com/office/drawing/2014/main" id="{9774C2B2-EB0A-4B2F-A955-9A6323BA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13</a:t>
            </a:r>
          </a:p>
        </p:txBody>
      </p:sp>
      <p:sp>
        <p:nvSpPr>
          <p:cNvPr id="2" name="timing-13">
            <a:extLst xmlns:a="http://schemas.openxmlformats.org/drawingml/2006/main">
              <a:ext uri="{FF2B5EF4-FFF2-40B4-BE49-F238E27FC236}">
                <a16:creationId xmlns:a16="http://schemas.microsoft.com/office/drawing/2014/main" id="{E654A7A6-5948-4CDC-A4F9-C9DFECC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9:08–9:32</a:t>
            </a:r>
          </a:p>
        </p:txBody>
      </p:sp>
      <p:sp>
        <p:nvSpPr>
          <p:cNvPr id="3" name="accent-rule-13">
            <a:extLst xmlns:a="http://schemas.openxmlformats.org/drawingml/2006/main">
              <a:ext uri="{FF2B5EF4-FFF2-40B4-BE49-F238E27FC236}">
                <a16:creationId xmlns:a16="http://schemas.microsoft.com/office/drawing/2014/main" id="{F27362B3-923D-4CC0-81B6-8B4DEBC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C04DE818-8CA5-45B4-A928-25D8453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13">
            <a:extLst xmlns:a="http://schemas.openxmlformats.org/drawingml/2006/main">
              <a:ext uri="{FF2B5EF4-FFF2-40B4-BE49-F238E27FC236}">
                <a16:creationId xmlns:a16="http://schemas.microsoft.com/office/drawing/2014/main" id="{FD3ACAC7-854B-4CC3-9DA8-4DA02BC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6" name="title-13">
            <a:extLst xmlns:a="http://schemas.openxmlformats.org/drawingml/2006/main">
              <a:ext uri="{FF2B5EF4-FFF2-40B4-BE49-F238E27FC236}">
                <a16:creationId xmlns:a16="http://schemas.microsoft.com/office/drawing/2014/main" id="{F4D3D3A0-CCE2-419A-9862-D57F6AA9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Certifications &amp; Growth</a:t>
            </a:r>
          </a:p>
        </p:txBody>
      </p:sp>
      <p:sp>
        <p:nvSpPr>
          <p:cNvPr id="7" name="section-13">
            <a:extLst xmlns:a="http://schemas.openxmlformats.org/drawingml/2006/main">
              <a:ext uri="{FF2B5EF4-FFF2-40B4-BE49-F238E27FC236}">
                <a16:creationId xmlns:a16="http://schemas.microsoft.com/office/drawing/2014/main" id="{96C88916-77A7-4CF5-95D0-46746FC4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13">
            <a:extLst xmlns:a="http://schemas.openxmlformats.org/drawingml/2006/main">
              <a:ext uri="{FF2B5EF4-FFF2-40B4-BE49-F238E27FC236}">
                <a16:creationId xmlns:a16="http://schemas.microsoft.com/office/drawing/2014/main" id="{AE4C5493-57A0-45DF-8CE6-ED84F4C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108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Completed: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Google Foundations of Cybersecurity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In progress: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Google Cybersecurity Professional Certificate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Next milestone: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 CompTIA Security+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Next focus: more hands-on SOC practice — reading logs, responding to incidents, and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12317093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rd-label-14">
            <a:extLst xmlns:a="http://schemas.openxmlformats.org/drawingml/2006/main">
              <a:ext uri="{FF2B5EF4-FFF2-40B4-BE49-F238E27FC236}">
                <a16:creationId xmlns:a16="http://schemas.microsoft.com/office/drawing/2014/main" id="{6ABF1F25-EA09-4A05-8953-4D18B5C5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14</a:t>
            </a:r>
          </a:p>
        </p:txBody>
      </p:sp>
      <p:sp>
        <p:nvSpPr>
          <p:cNvPr id="2" name="timing-14">
            <a:extLst xmlns:a="http://schemas.openxmlformats.org/drawingml/2006/main">
              <a:ext uri="{FF2B5EF4-FFF2-40B4-BE49-F238E27FC236}">
                <a16:creationId xmlns:a16="http://schemas.microsoft.com/office/drawing/2014/main" id="{08C54CDB-5FCA-4B9D-927C-601C2CA6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9:32–10:00</a:t>
            </a:r>
          </a:p>
        </p:txBody>
      </p:sp>
      <p:sp>
        <p:nvSpPr>
          <p:cNvPr id="3" name="accent-rule-14">
            <a:extLst xmlns:a="http://schemas.openxmlformats.org/drawingml/2006/main">
              <a:ext uri="{FF2B5EF4-FFF2-40B4-BE49-F238E27FC236}">
                <a16:creationId xmlns:a16="http://schemas.microsoft.com/office/drawing/2014/main" id="{9D9F9E12-9F67-483F-A622-6173B3F8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D008D9CF-2549-4EA3-A678-92EFD3E1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14">
            <a:extLst xmlns:a="http://schemas.openxmlformats.org/drawingml/2006/main">
              <a:ext uri="{FF2B5EF4-FFF2-40B4-BE49-F238E27FC236}">
                <a16:creationId xmlns:a16="http://schemas.microsoft.com/office/drawing/2014/main" id="{53A939F8-7FAD-440B-A89D-BF52E46A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6" name="title-14">
            <a:extLst xmlns:a="http://schemas.openxmlformats.org/drawingml/2006/main">
              <a:ext uri="{FF2B5EF4-FFF2-40B4-BE49-F238E27FC236}">
                <a16:creationId xmlns:a16="http://schemas.microsoft.com/office/drawing/2014/main" id="{D83CCE27-4219-49A7-880A-2251917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7" name="section-14">
            <a:extLst xmlns:a="http://schemas.openxmlformats.org/drawingml/2006/main">
              <a:ext uri="{FF2B5EF4-FFF2-40B4-BE49-F238E27FC236}">
                <a16:creationId xmlns:a16="http://schemas.microsoft.com/office/drawing/2014/main" id="{F54C8D29-F5D2-407E-A115-A9BC57A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WHAT TO SAY</a:t>
            </a:r>
          </a:p>
        </p:txBody>
      </p:sp>
      <p:sp>
        <p:nvSpPr>
          <p:cNvPr id="8" name="cues-14">
            <a:extLst xmlns:a="http://schemas.openxmlformats.org/drawingml/2006/main">
              <a:ext uri="{FF2B5EF4-FFF2-40B4-BE49-F238E27FC236}">
                <a16:creationId xmlns:a16="http://schemas.microsoft.com/office/drawing/2014/main" id="{C3C5BE05-6B02-41D5-9D9C-14EC006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06108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My portfolio turns school projects into clear, risk-focused career preparation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I’m ready to contribute as a careful, process-oriented junior analyst who communicates clearly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I’m looking for the chance to learn from experienced SOC professionals in Dallas–Fort Worth</a:t>
            </a:r>
          </a:p>
          <a:p xmlns:a="http://schemas.openxmlformats.org/drawingml/2006/main">
            <a:pPr marL="0" indent="0">
              <a:lnSpc>
                <a:spcPct val="103000"/>
              </a:lnSpc>
              <a:spcAft>
                <a:spcPts val="9"/>
              </a:spcAft>
              <a:buNone/>
              <a:defRPr sz="180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800">
                <a:solidFill>
                  <a:srgbClr val="C8D7EC"/>
                </a:solidFill>
                <a:latin typeface="Arial"/>
                <a:ea typeface="Arial"/>
                <a:cs typeface="Arial"/>
              </a:rPr>
              <a:t>Thank you — I’m happy to answer any questions</a:t>
            </a:r>
          </a:p>
        </p:txBody>
      </p:sp>
    </p:spTree>
    <p:extLst>
      <p:ext uri="{BB962C8B-B14F-4D97-AF65-F5344CB8AC3E}">
        <p14:creationId xmlns:p14="http://schemas.microsoft.com/office/powerpoint/2010/main" val="17959101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rd-label-15">
            <a:extLst xmlns:a="http://schemas.openxmlformats.org/drawingml/2006/main">
              <a:ext uri="{FF2B5EF4-FFF2-40B4-BE49-F238E27FC236}">
                <a16:creationId xmlns:a16="http://schemas.microsoft.com/office/drawing/2014/main" id="{FFECC6E2-DF5B-4CF2-9EA7-10124B79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CARD 15</a:t>
            </a:r>
          </a:p>
        </p:txBody>
      </p:sp>
      <p:sp>
        <p:nvSpPr>
          <p:cNvPr id="2" name="timing-15">
            <a:extLst xmlns:a="http://schemas.openxmlformats.org/drawingml/2006/main">
              <a:ext uri="{FF2B5EF4-FFF2-40B4-BE49-F238E27FC236}">
                <a16:creationId xmlns:a16="http://schemas.microsoft.com/office/drawing/2014/main" id="{87B3329E-27AF-4DDF-B246-52E8B977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5C7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C7F1"/>
                </a:solidFill>
                <a:latin typeface="Arial"/>
                <a:ea typeface="Arial"/>
                <a:cs typeface="Arial"/>
              </a:rPr>
              <a:t>Reference — not timed</a:t>
            </a:r>
          </a:p>
        </p:txBody>
      </p:sp>
      <p:sp>
        <p:nvSpPr>
          <p:cNvPr id="3" name="accent-rule-15">
            <a:extLst xmlns:a="http://schemas.openxmlformats.org/drawingml/2006/main">
              <a:ext uri="{FF2B5EF4-FFF2-40B4-BE49-F238E27FC236}">
                <a16:creationId xmlns:a16="http://schemas.microsoft.com/office/drawing/2014/main" id="{80181B1E-CAA8-4AA0-B35E-61D76473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876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1FCA531C-A49E-42FF-89DA-1C54CFC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Ayalew Cherenet  •  IT &amp; Cybersecurity Portfolio</a:t>
            </a:r>
          </a:p>
        </p:txBody>
      </p:sp>
      <p:sp>
        <p:nvSpPr>
          <p:cNvPr id="5" name="counter-15">
            <a:extLst xmlns:a="http://schemas.openxmlformats.org/drawingml/2006/main">
              <a:ext uri="{FF2B5EF4-FFF2-40B4-BE49-F238E27FC236}">
                <a16:creationId xmlns:a16="http://schemas.microsoft.com/office/drawing/2014/main" id="{4D290F02-0CC1-429B-ACFF-604E3C57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48DB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48DB0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6" name="title-15">
            <a:extLst xmlns:a="http://schemas.openxmlformats.org/drawingml/2006/main">
              <a:ext uri="{FF2B5EF4-FFF2-40B4-BE49-F238E27FC236}">
                <a16:creationId xmlns:a16="http://schemas.microsoft.com/office/drawing/2014/main" id="{41710F9F-9BBC-464C-B1D6-F702F203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BFF"/>
                </a:solidFill>
                <a:latin typeface="Arial"/>
                <a:ea typeface="Arial"/>
                <a:cs typeface="Arial"/>
              </a:rPr>
              <a:t>Technical Acronym Glossary</a:t>
            </a:r>
          </a:p>
        </p:txBody>
      </p:sp>
      <p:sp>
        <p:nvSpPr>
          <p:cNvPr id="7" name="section-15">
            <a:extLst xmlns:a="http://schemas.openxmlformats.org/drawingml/2006/main">
              <a:ext uri="{FF2B5EF4-FFF2-40B4-BE49-F238E27FC236}">
                <a16:creationId xmlns:a16="http://schemas.microsoft.com/office/drawing/2014/main" id="{27396A79-751A-4093-9743-30E1A30F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4D4B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4D4B4"/>
                </a:solidFill>
                <a:latin typeface="Arial"/>
                <a:ea typeface="Arial"/>
                <a:cs typeface="Arial"/>
              </a:rPr>
              <a:t>TECHNICAL TERMS USED IN THE PRESENTATION</a:t>
            </a:r>
          </a:p>
        </p:txBody>
      </p:sp>
      <p:sp>
        <p:nvSpPr>
          <p:cNvPr id="8" name="glossary-column-1">
            <a:extLst xmlns:a="http://schemas.openxmlformats.org/drawingml/2006/main">
              <a:ext uri="{FF2B5EF4-FFF2-40B4-BE49-F238E27FC236}">
                <a16:creationId xmlns:a16="http://schemas.microsoft.com/office/drawing/2014/main" id="{FA00D61A-BED7-4D84-B5D8-4EF1A5BC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5143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IT: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Information Technology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SOC: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Security Operations Center</a:t>
            </a:r>
          </a:p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MFA: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Multi-Factor Authentication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EDR: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Endpoint Detection and Response</a:t>
            </a:r>
          </a:p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SIEM: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Security Information and Event Management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SQL: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Structured Query Language</a:t>
            </a:r>
          </a:p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TLS: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Transport Layer Security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AES: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Advanced Encryption Standard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GCM: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Galois/Counter Mode</a:t>
            </a:r>
          </a:p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IPsec: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Internet Protocol Security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VPN: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Virtual Private Network</a:t>
            </a:r>
          </a:p>
        </p:txBody>
      </p:sp>
      <p:sp>
        <p:nvSpPr>
          <p:cNvPr id="9" name="glossary-column-2">
            <a:extLst xmlns:a="http://schemas.openxmlformats.org/drawingml/2006/main">
              <a:ext uri="{FF2B5EF4-FFF2-40B4-BE49-F238E27FC236}">
                <a16:creationId xmlns:a16="http://schemas.microsoft.com/office/drawing/2014/main" id="{0DE0C3E5-501E-47E9-A050-FD42A670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19325"/>
            <a:ext cx="5143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RBAC: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Role-Based Access Control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OWASP: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Open Worldwide Application Security Project</a:t>
            </a:r>
          </a:p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XSS: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Cross-Site Scripting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WAF: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Web Application Firewall</a:t>
            </a:r>
          </a:p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CVSS: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Common Vulnerability Scoring System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IoT: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Internet of Things</a:t>
            </a:r>
          </a:p>
          <a:p xmlns:a="http://schemas.openxmlformats.org/drawingml/2006/main">
            <a:pPr marL="0" indent="0">
              <a:lnSpc>
                <a:spcPct val="102000"/>
              </a:lnSpc>
              <a:spcAft>
                <a:spcPts val="11"/>
              </a:spcAft>
              <a:buNone/>
              <a:defRPr sz="1650">
                <a:solidFill>
                  <a:srgbClr val="C8D7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MQTT: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Message Queuing Telemetry Transport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JSON: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JavaScript Object Notation · </a:t>
            </a:r>
            <a:r>
              <a:rPr sz="1650" b="1">
                <a:solidFill>
                  <a:srgbClr val="C8D7EC"/>
                </a:solidFill>
                <a:latin typeface="Arial"/>
                <a:ea typeface="Arial"/>
                <a:cs typeface="Arial"/>
              </a:rPr>
              <a:t>CSV:</a:t>
            </a:r>
            <a:r>
              <a:rPr sz="1650">
                <a:solidFill>
                  <a:srgbClr val="C8D7EC"/>
                </a:solidFill>
                <a:latin typeface="Arial"/>
                <a:ea typeface="Arial"/>
                <a:cs typeface="Arial"/>
              </a:rPr>
              <a:t> Comma-Separated Values</a:t>
            </a:r>
          </a:p>
        </p:txBody>
      </p:sp>
    </p:spTree>
    <p:extLst>
      <p:ext uri="{BB962C8B-B14F-4D97-AF65-F5344CB8AC3E}">
        <p14:creationId xmlns:p14="http://schemas.microsoft.com/office/powerpoint/2010/main" val="969209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2026-09-01T18:41:31.8250000Z</dcterms:created>
  <dcterms:modified xsi:type="dcterms:W3CDTF">2026-09-01T18:41:31.8250000Z</dcterms:modified>
</coreProperties>
</file>
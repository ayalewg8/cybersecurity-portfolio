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c0a41a11404084" /><Relationship Type="http://schemas.openxmlformats.org/officeDocument/2006/relationships/extended-properties" Target="/docProps/app.xml" Id="R106b724639ae456d" /><Relationship Type="http://schemas.openxmlformats.org/officeDocument/2006/relationships/officeDocument" Target="/ppt/presentation.xml" Id="R3606c59e1d0a43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57cbf5a34b494b"/>
  </p:sldMasterIdLst>
  <p:notesMasterIdLst>
    <p:notesMasterId xmlns:r="http://schemas.openxmlformats.org/officeDocument/2006/relationships" r:id="R5b001f457a124cfc"/>
  </p:notesMasterIdLst>
  <p:sldIdLst>
    <p:sldId xmlns:r="http://schemas.openxmlformats.org/officeDocument/2006/relationships" id="256" r:id="Rdff9bf4e65604e37"/>
    <p:sldId xmlns:r="http://schemas.openxmlformats.org/officeDocument/2006/relationships" id="257" r:id="R705c519a0cea404c"/>
    <p:sldId xmlns:r="http://schemas.openxmlformats.org/officeDocument/2006/relationships" id="258" r:id="Reecc16c4a08249de"/>
    <p:sldId xmlns:r="http://schemas.openxmlformats.org/officeDocument/2006/relationships" id="259" r:id="Rf07e945d4ccd43da"/>
    <p:sldId xmlns:r="http://schemas.openxmlformats.org/officeDocument/2006/relationships" id="260" r:id="R52db42c48acb4326"/>
    <p:sldId xmlns:r="http://schemas.openxmlformats.org/officeDocument/2006/relationships" id="261" r:id="R78c8dd1a346b4007"/>
    <p:sldId xmlns:r="http://schemas.openxmlformats.org/officeDocument/2006/relationships" id="262" r:id="Rb3f666e731ef46bc"/>
    <p:sldId xmlns:r="http://schemas.openxmlformats.org/officeDocument/2006/relationships" id="263" r:id="R257559de3d0749ad"/>
    <p:sldId xmlns:r="http://schemas.openxmlformats.org/officeDocument/2006/relationships" id="264" r:id="R3a1375f4450a4025"/>
    <p:sldId xmlns:r="http://schemas.openxmlformats.org/officeDocument/2006/relationships" id="265" r:id="Rce819d1ebb314577"/>
    <p:sldId xmlns:r="http://schemas.openxmlformats.org/officeDocument/2006/relationships" id="266" r:id="R6ab3020713bd429a"/>
    <p:sldId xmlns:r="http://schemas.openxmlformats.org/officeDocument/2006/relationships" id="267" r:id="Rd55a07aba3ec4da4"/>
    <p:sldId xmlns:r="http://schemas.openxmlformats.org/officeDocument/2006/relationships" id="268" r:id="Rc857d1707d6a4add"/>
    <p:sldId xmlns:r="http://schemas.openxmlformats.org/officeDocument/2006/relationships" id="269" r:id="Red9df8c5fb15450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4f2be796e44897" /><Relationship Type="http://schemas.openxmlformats.org/officeDocument/2006/relationships/slideMaster" Target="/ppt/slideMasters/slideMaster1.xml" Id="R5657cbf5a34b494b" /><Relationship Type="http://schemas.openxmlformats.org/officeDocument/2006/relationships/notesMaster" Target="/ppt/notesMasters/notesMaster1.xml" Id="R5b001f457a124cfc" /><Relationship Type="http://schemas.openxmlformats.org/officeDocument/2006/relationships/presProps" Target="/ppt/presProps.xml" Id="R6795b7b215b04ea9" /><Relationship Type="http://schemas.openxmlformats.org/officeDocument/2006/relationships/tableStyles" Target="/ppt/tableStyles.xml" Id="Rb0b0a7bc982a417e" /><Relationship Type="http://schemas.openxmlformats.org/officeDocument/2006/relationships/slide" Target="/ppt/slides/slide1.xml" Id="Rdff9bf4e65604e37" /><Relationship Type="http://schemas.openxmlformats.org/officeDocument/2006/relationships/slide" Target="/ppt/slides/slide2.xml" Id="R705c519a0cea404c" /><Relationship Type="http://schemas.openxmlformats.org/officeDocument/2006/relationships/slide" Target="/ppt/slides/slide3.xml" Id="Reecc16c4a08249de" /><Relationship Type="http://schemas.openxmlformats.org/officeDocument/2006/relationships/slide" Target="/ppt/slides/slide4.xml" Id="Rf07e945d4ccd43da" /><Relationship Type="http://schemas.openxmlformats.org/officeDocument/2006/relationships/slide" Target="/ppt/slides/slide5.xml" Id="R52db42c48acb4326" /><Relationship Type="http://schemas.openxmlformats.org/officeDocument/2006/relationships/slide" Target="/ppt/slides/slide6.xml" Id="R78c8dd1a346b4007" /><Relationship Type="http://schemas.openxmlformats.org/officeDocument/2006/relationships/slide" Target="/ppt/slides/slide7.xml" Id="Rb3f666e731ef46bc" /><Relationship Type="http://schemas.openxmlformats.org/officeDocument/2006/relationships/slide" Target="/ppt/slides/slide8.xml" Id="R257559de3d0749ad" /><Relationship Type="http://schemas.openxmlformats.org/officeDocument/2006/relationships/slide" Target="/ppt/slides/slide9.xml" Id="R3a1375f4450a4025" /><Relationship Type="http://schemas.openxmlformats.org/officeDocument/2006/relationships/slide" Target="/ppt/slides/slide10.xml" Id="Rce819d1ebb314577" /><Relationship Type="http://schemas.openxmlformats.org/officeDocument/2006/relationships/slide" Target="/ppt/slides/slide11.xml" Id="R6ab3020713bd429a" /><Relationship Type="http://schemas.openxmlformats.org/officeDocument/2006/relationships/slide" Target="/ppt/slides/slide12.xml" Id="Rd55a07aba3ec4da4" /><Relationship Type="http://schemas.openxmlformats.org/officeDocument/2006/relationships/slide" Target="/ppt/slides/slide13.xml" Id="Rc857d1707d6a4add" /><Relationship Type="http://schemas.openxmlformats.org/officeDocument/2006/relationships/slide" Target="/ppt/slides/slide14.xml" Id="Red9df8c5fb1545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1f76a40c3c4b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dd4a8331d043a7" /><Relationship Type="http://schemas.openxmlformats.org/officeDocument/2006/relationships/notesMaster" Target="/ppt/notesMasters/notesMaster1.xml" Id="Rea5b6a551e8e41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ef063dee8d4082" /><Relationship Type="http://schemas.openxmlformats.org/officeDocument/2006/relationships/notesMaster" Target="/ppt/notesMasters/notesMaster1.xml" Id="R103e9ad9e08342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57cf03495f4bf4" /><Relationship Type="http://schemas.openxmlformats.org/officeDocument/2006/relationships/notesMaster" Target="/ppt/notesMasters/notesMaster1.xml" Id="R535b007b872949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35f67c90d54bb6" /><Relationship Type="http://schemas.openxmlformats.org/officeDocument/2006/relationships/notesMaster" Target="/ppt/notesMasters/notesMaster1.xml" Id="Rde2a3c69d6f648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e887a43c364137" /><Relationship Type="http://schemas.openxmlformats.org/officeDocument/2006/relationships/notesMaster" Target="/ppt/notesMasters/notesMaster1.xml" Id="Rb4989909925946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2537b4e41a4209" /><Relationship Type="http://schemas.openxmlformats.org/officeDocument/2006/relationships/notesMaster" Target="/ppt/notesMasters/notesMaster1.xml" Id="Ra5a810dc8fa44b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466401012041e5" /><Relationship Type="http://schemas.openxmlformats.org/officeDocument/2006/relationships/notesMaster" Target="/ppt/notesMasters/notesMaster1.xml" Id="Reb5671c471414a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9115f2fb794ec4" /><Relationship Type="http://schemas.openxmlformats.org/officeDocument/2006/relationships/notesMaster" Target="/ppt/notesMasters/notesMaster1.xml" Id="R6e042eb4dd924a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8e7627db4744db" /><Relationship Type="http://schemas.openxmlformats.org/officeDocument/2006/relationships/notesMaster" Target="/ppt/notesMasters/notesMaster1.xml" Id="Rcf5e1d9ba1a64c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3a83abdeb34cce" /><Relationship Type="http://schemas.openxmlformats.org/officeDocument/2006/relationships/notesMaster" Target="/ppt/notesMasters/notesMaster1.xml" Id="Rfdc0858a3ddf44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7d4d56ad0341e2" /><Relationship Type="http://schemas.openxmlformats.org/officeDocument/2006/relationships/notesMaster" Target="/ppt/notesMasters/notesMaster1.xml" Id="Rcf2391c722e842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5af77e2de4437b" /><Relationship Type="http://schemas.openxmlformats.org/officeDocument/2006/relationships/notesMaster" Target="/ppt/notesMasters/notesMaster1.xml" Id="R36bbcb04aa5143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f32393f4f944dc" /><Relationship Type="http://schemas.openxmlformats.org/officeDocument/2006/relationships/notesMaster" Target="/ppt/notesMasters/notesMaster1.xml" Id="R104074360328466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7b64cd038904dd4" /><Relationship Type="http://schemas.openxmlformats.org/officeDocument/2006/relationships/notesMaster" Target="/ppt/notesMasters/notesMaster1.xml" Id="R1d095d4b76d749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0:00–0:42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Opening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Ayalew Cherenet, an Information Technology (IT) and Cybersecurity student at Wade College graduating in September 2026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goal is an entry-level SOC Analyst job in Dallas–Fort Worth. SOC means Security Operations Center — the team that watches for cyber threats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portfolio shows how I think about risk, write clear documentation, and solve problems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theme: Protect systems. Solve problems. Keep learning.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0:42–1:23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About Me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detail-oriented because security work depends on people who notice problems early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previous jobs taught me reliability, following processes, teamwork, and clear documentation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main strengths: risk assessment, finding and fixing vulnerabilities, network security, and web application security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also have skills in Linux, encryption, databases, Python, SQL (Structured Query Language), and the basics of incident response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1:23–1:52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Why These Projects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 SOC Analyst watches systems, investigates alerts, decides what is most important, and explains findings clearly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chose projects that practice exactly those skills: thinking about risk, investigating problems, planning fixes, and writing clear documentation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Eight projects total — six cybersecurity case studies plus programming and e-commerce 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1:52–2:57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1 — Northbridge Logistics Risk Assessment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Risk assessment for a mid-sized logistics company: 150 employees, 3 offices, 180 computers, and 20 servers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listed the important assets, possible threats, weak points, how likely attacks were, and the business impact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recommended stronger logins using MFA (Multi-Factor Authentication), endpoint protection using EDR (Endpoint Detection and Response), network separation, SIEM (Security Information and Event Management), regular updates, and tested backups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SOC takeaway: Turning technical findings into a clear, prioritized plan that leaders can act 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2:57–3:48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2 — SecureHealth Cryptography &amp; Network Security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designed a layered security plan to protect sensitive healthcare information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chose TLS 1.3 (Transport Layer Security) for data moving across the network and AES-256-GCM (Advanced Encryption Standard with Galois/Counter Mode) for stored data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also planned certificate and key management plus an IPsec VPN: Internet Protocol Security over a Virtual Private Network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Key lesson: Strong encryption only works if keys are created, stored, rotated, and revoked safely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3:48–4:35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3 — Healthcare Clinic Secure Database Design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designed a clean PostgreSQL database model for a healthcare clinic focused on keeping data private, accurate, and available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used RBAC (Role-Based Access Control) so each staff member only sees what they need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recommended encryption, secure connections, activity logs, backups, and a recovery plan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SOC takeaway: Weak access control and missing logs can turn a small problem into a serious incident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4:35–5:28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4 — RetailHub OWASP Web App Assessment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reviewed an online store against the OWASP Top 10. OWASP means Open Worldwide Application Security Project, and its Top 10 highlights critical web application risks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highest risks were broken access control, injection attacks, XSS (Cross-Site Scripting), weak logins, and missing logs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recommended multi-factor login, stronger permissions, input checking, secure coding, automated testing, better logging, and a WAF (Web Application Firewall)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SOC connection: Web weaknesses create alerts, incidents, customer problems, and business risk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5:28–6:19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5 — ABC Logistics Threat &amp; Vulnerability Mgmt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built a clear process: discover → prioritize → fix → verify → report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ranked problems using CVSS (Common Vulnerability Scoring System), exploitability, system importance, and business impact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Every step included who owns the fix, what evidence is needed, re-checking after the fix, and reporting to leadership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project is the closest to real day-to-day security operations 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6:19–7:09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Project 6 — IoT (Internet of Things) Smart Home Monitoring System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designed the full system path: sensors → Raspberry Pi → message broker → dashboard and alerts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required MQTT over TLS: Message Queuing Telemetry Transport protected by Transport Layer Security, so sensor data stays private while moving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design includes local storage if the internet goes down, sensor calibration, and alerts when readings go outside safe limits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Key lesson: Every connected device gives useful data but also adds new security and reliability risks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7:09–7:55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Additional Project — Food Expense Tracker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built a desktop app with Python and Tkinter as a programming practice project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Users can add, edit, delete, search, filter, and sort expense records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saves data in JSON (JavaScript Object Notation), checks user input, calculates totals, and exports CSV (Comma-Separated Values)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shows practical programming, handling structured data, and building something useful for users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7:55–8:36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Additional Project — MAKEDA (Queen of Sheba)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created a Shopify online store focused on Ethiopian-inspired fashion with clear product organization and good mobile experience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paid attention to security: multi-factor login for the admin account, limited permissions, secure checkout, and customer privacy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shows that technical choices must support both business goals and customer trust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connects to the RetailHub project — online stores must protect customers, data, payments, and reputation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8:36–9:08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Live GitHub Portfolio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GitHub Pages website brings all eight projects together in one easy-to-explore place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Recruiters can look at the case studies, diagrams, documentation, the live practice demo, and the MAKEDA store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Every project follows a clear story: problem → approach → tools and ideas → result or recommendation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goal is to make the work easy to understand and discuss in an interview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9:08–9:32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Certifications &amp; Growth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Completed: Google Foundations of Cybersecurity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progress: Google Cybersecurity Professional Certificate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Next milestone: CompTIA Security+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Next focus: more hands-on SOC practice — reading logs, responding to incidents, and monitoring systems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9:32–10:00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Practice flashcard: Closing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Talking points: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My portfolio turns school projects into clear, risk-focused career preparation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ready to contribute as a careful, process-oriented junior analyst who communicates clearly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I’m looking for the chance to learn from experienced SOC professionals in Dallas–Fort Worth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Thank you — I’m happy to answer any questions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Technical acronym glossary (reference only):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IT: Information Technology · SOC: Security Operations Center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MFA: Multi-Factor Authentication · EDR: Endpoint Detection and Response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SIEM: Security Information and Event Management · SQL: Structured Query Language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TLS: Transport Layer Security · AES: Advanced Encryption Standard · GCM: Galois/Counter Mode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IPsec: Internet Protocol Security · VPN: Virtual Private Network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RBAC: Role-Based Access Control · OWASP: Open Worldwide Application Security Project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XSS: Cross-Site Scripting · WAF: Web Application Firewall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CVSS: Common Vulnerability Scoring System · IoT: Internet of Things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MQTT: Message Queuing Telemetry Transport · JSON: JavaScript Object Notation · CSV: Comma-Separated Values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f004a857164ea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7694E69-F723-43B3-AC9E-F7DB44A13F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02920"/>
            <a:ext cx="10972080" cy="68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9DFC308-A89D-4DE3-B161-A1B1BE54BD03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3364920"/>
            <a:ext cx="10972080" cy="45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ae80918f764da6" /><Relationship Type="http://schemas.openxmlformats.org/officeDocument/2006/relationships/slideLayout" Target="/ppt/slideLayouts/slideLayout1.xml" Id="R791476d8ae3c44e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5D02C4F-C7C7-4857-A1F4-D84ACAB2EB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43960"/>
            <a:ext cx="10972080" cy="60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tabLst>
                <a:tab pos="0" algn="l"/>
              </a:tabLst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AC0D328-20EB-4AEA-9683-2EEEAF41C867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1476d8ae3c44e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d9a38724c4357" /><Relationship Type="http://schemas.openxmlformats.org/officeDocument/2006/relationships/notesSlide" Target="/ppt/notesSlides/notesSlide1.xml" Id="R62fc5d246d2c4d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e01a5a47b4f19" /><Relationship Type="http://schemas.openxmlformats.org/officeDocument/2006/relationships/notesSlide" Target="/ppt/notesSlides/notesSlide2.xml" Id="R724fcc2742f249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dad066e674473" /><Relationship Type="http://schemas.openxmlformats.org/officeDocument/2006/relationships/notesSlide" Target="/ppt/notesSlides/notesSlide3.xml" Id="Rbbe9eba7318743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2fb002a87488a" /><Relationship Type="http://schemas.openxmlformats.org/officeDocument/2006/relationships/notesSlide" Target="/ppt/notesSlides/notesSlide4.xml" Id="R78a9f2494f434a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6e5f22b2a42d8" /><Relationship Type="http://schemas.openxmlformats.org/officeDocument/2006/relationships/notesSlide" Target="/ppt/notesSlides/notesSlide5.xml" Id="R5e0370e83cca4d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bbdfd57f642fe" /><Relationship Type="http://schemas.openxmlformats.org/officeDocument/2006/relationships/notesSlide" Target="/ppt/notesSlides/notesSlide6.xml" Id="Rb522fe5408dd44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23c96bed6403a" /><Relationship Type="http://schemas.openxmlformats.org/officeDocument/2006/relationships/notesSlide" Target="/ppt/notesSlides/notesSlide7.xml" Id="Rac5a70e512944d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3061774a44f25" /><Relationship Type="http://schemas.openxmlformats.org/officeDocument/2006/relationships/notesSlide" Target="/ppt/notesSlides/notesSlide8.xml" Id="R2990fa60f73e47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fade5cca748b5" /><Relationship Type="http://schemas.openxmlformats.org/officeDocument/2006/relationships/notesSlide" Target="/ppt/notesSlides/notesSlide9.xml" Id="Rf4e78c798ede47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4545cbe7d4a06" /><Relationship Type="http://schemas.openxmlformats.org/officeDocument/2006/relationships/notesSlide" Target="/ppt/notesSlides/notesSlide10.xml" Id="Rdb509ec82d2146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041a2293b4d15" /><Relationship Type="http://schemas.openxmlformats.org/officeDocument/2006/relationships/notesSlide" Target="/ppt/notesSlides/notesSlide11.xml" Id="R991ce88b744d4b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c8c73f0f34992" /><Relationship Type="http://schemas.openxmlformats.org/officeDocument/2006/relationships/notesSlide" Target="/ppt/notesSlides/notesSlide12.xml" Id="R94d9fa9a159b415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49723644e424a" /><Relationship Type="http://schemas.openxmlformats.org/officeDocument/2006/relationships/notesSlide" Target="/ppt/notesSlides/notesSlide13.xml" Id="R384c590516d2442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6147675b04b9f" /><Relationship Type="http://schemas.openxmlformats.org/officeDocument/2006/relationships/notesSlide" Target="/ppt/notesSlides/notesSlide14.xml" Id="Re4787dcfd0414b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D4DD4AD5-3D9B-42A8-BDFC-FDE9C023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C245C7B5-128D-4804-9B54-FDE8A309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card-number">
            <a:extLst xmlns:a="http://schemas.openxmlformats.org/drawingml/2006/main">
              <a:ext uri="{FF2B5EF4-FFF2-40B4-BE49-F238E27FC236}">
                <a16:creationId xmlns:a16="http://schemas.microsoft.com/office/drawing/2014/main" id="{4399D2E2-5760-4F64-AD4E-EC56974A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01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timing">
            <a:extLst xmlns:a="http://schemas.openxmlformats.org/drawingml/2006/main">
              <a:ext uri="{FF2B5EF4-FFF2-40B4-BE49-F238E27FC236}">
                <a16:creationId xmlns:a16="http://schemas.microsoft.com/office/drawing/2014/main" id="{59A3F511-D566-4728-9AA3-D240DD9A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0:00–0:42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accent-bar">
            <a:extLst xmlns:a="http://schemas.openxmlformats.org/drawingml/2006/main">
              <a:ext uri="{FF2B5EF4-FFF2-40B4-BE49-F238E27FC236}">
                <a16:creationId xmlns:a16="http://schemas.microsoft.com/office/drawing/2014/main" id="{84039671-CCD2-4C4F-8EFF-58170389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6B8C81-E758-48A0-95B7-0E0981C5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Opening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cue-label">
            <a:extLst xmlns:a="http://schemas.openxmlformats.org/drawingml/2006/main">
              <a:ext uri="{FF2B5EF4-FFF2-40B4-BE49-F238E27FC236}">
                <a16:creationId xmlns:a16="http://schemas.microsoft.com/office/drawing/2014/main" id="{A0E8CD5E-FB8F-4AEB-ADF7-99FC0095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cue-dot-0">
            <a:extLst xmlns:a="http://schemas.openxmlformats.org/drawingml/2006/main">
              <a:ext uri="{FF2B5EF4-FFF2-40B4-BE49-F238E27FC236}">
                <a16:creationId xmlns:a16="http://schemas.microsoft.com/office/drawing/2014/main" id="{6C5E01DB-A737-41BD-9C22-43ED4F5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cue-0">
            <a:extLst xmlns:a="http://schemas.openxmlformats.org/drawingml/2006/main">
              <a:ext uri="{FF2B5EF4-FFF2-40B4-BE49-F238E27FC236}">
                <a16:creationId xmlns:a16="http://schemas.microsoft.com/office/drawing/2014/main" id="{DC9F5BC8-F159-4D7D-BEF1-64B481AB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Name, Wade College, IT &amp; Cybersecurity, graduation Sept 2026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cue-dot-1">
            <a:extLst xmlns:a="http://schemas.openxmlformats.org/drawingml/2006/main">
              <a:ext uri="{FF2B5EF4-FFF2-40B4-BE49-F238E27FC236}">
                <a16:creationId xmlns:a16="http://schemas.microsoft.com/office/drawing/2014/main" id="{A4ED7AE8-522C-4CB4-A391-C2CE9FAB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cue-1">
            <a:extLst xmlns:a="http://schemas.openxmlformats.org/drawingml/2006/main">
              <a:ext uri="{FF2B5EF4-FFF2-40B4-BE49-F238E27FC236}">
                <a16:creationId xmlns:a16="http://schemas.microsoft.com/office/drawing/2014/main" id="{6780395E-93B7-4BE8-A21C-5F34A257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Goal: entry-level SOC Analyst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cue-dot-2">
            <a:extLst xmlns:a="http://schemas.openxmlformats.org/drawingml/2006/main">
              <a:ext uri="{FF2B5EF4-FFF2-40B4-BE49-F238E27FC236}">
                <a16:creationId xmlns:a16="http://schemas.microsoft.com/office/drawing/2014/main" id="{E58B0E83-3113-4AFD-BE36-04D240B8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cue-2">
            <a:extLst xmlns:a="http://schemas.openxmlformats.org/drawingml/2006/main">
              <a:ext uri="{FF2B5EF4-FFF2-40B4-BE49-F238E27FC236}">
                <a16:creationId xmlns:a16="http://schemas.microsoft.com/office/drawing/2014/main" id="{E8DEF610-1676-4F81-865A-667097BF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Portfolio = practical projects + programming + documentation + business problem-solving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cue-dot-3">
            <a:extLst xmlns:a="http://schemas.openxmlformats.org/drawingml/2006/main">
              <a:ext uri="{FF2B5EF4-FFF2-40B4-BE49-F238E27FC236}">
                <a16:creationId xmlns:a16="http://schemas.microsoft.com/office/drawing/2014/main" id="{CFA19F52-F8B4-4EDE-9163-3C380A1E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cue-3">
            <a:extLst xmlns:a="http://schemas.openxmlformats.org/drawingml/2006/main">
              <a:ext uri="{FF2B5EF4-FFF2-40B4-BE49-F238E27FC236}">
                <a16:creationId xmlns:a16="http://schemas.microsoft.com/office/drawing/2014/main" id="{E2D198CC-CD86-4F34-9355-73E24751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Tagline: protect systems, solve problems, keep learning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1F7AF1-D320-4249-934E-B4419162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01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8262B854-CAA5-4585-9B0F-3C921134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538667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6FB18C56-788E-41D3-82C8-F1BF0A67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FA7C9425-D0F5-4EF2-B2AA-E6948299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card-number">
            <a:extLst xmlns:a="http://schemas.openxmlformats.org/drawingml/2006/main">
              <a:ext uri="{FF2B5EF4-FFF2-40B4-BE49-F238E27FC236}">
                <a16:creationId xmlns:a16="http://schemas.microsoft.com/office/drawing/2014/main" id="{A3A19D6C-1D43-4B33-B280-BB591FB1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timing">
            <a:extLst xmlns:a="http://schemas.openxmlformats.org/drawingml/2006/main">
              <a:ext uri="{FF2B5EF4-FFF2-40B4-BE49-F238E27FC236}">
                <a16:creationId xmlns:a16="http://schemas.microsoft.com/office/drawing/2014/main" id="{93143323-FAE1-428B-B373-70DA8620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0:42–1:23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accent-bar">
            <a:extLst xmlns:a="http://schemas.openxmlformats.org/drawingml/2006/main">
              <a:ext uri="{FF2B5EF4-FFF2-40B4-BE49-F238E27FC236}">
                <a16:creationId xmlns:a16="http://schemas.microsoft.com/office/drawing/2014/main" id="{D3C76E0C-635C-45F5-89C1-0246D8E0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FF5A8C-67AC-47A3-A5B2-01354F98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About Me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cue-label">
            <a:extLst xmlns:a="http://schemas.openxmlformats.org/drawingml/2006/main">
              <a:ext uri="{FF2B5EF4-FFF2-40B4-BE49-F238E27FC236}">
                <a16:creationId xmlns:a16="http://schemas.microsoft.com/office/drawing/2014/main" id="{73B98557-312D-4569-9823-89B170F4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cue-dot-0">
            <a:extLst xmlns:a="http://schemas.openxmlformats.org/drawingml/2006/main">
              <a:ext uri="{FF2B5EF4-FFF2-40B4-BE49-F238E27FC236}">
                <a16:creationId xmlns:a16="http://schemas.microsoft.com/office/drawing/2014/main" id="{A5CC5514-647E-4E9F-94CA-B52424F8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cue-0">
            <a:extLst xmlns:a="http://schemas.openxmlformats.org/drawingml/2006/main">
              <a:ext uri="{FF2B5EF4-FFF2-40B4-BE49-F238E27FC236}">
                <a16:creationId xmlns:a16="http://schemas.microsoft.com/office/drawing/2014/main" id="{72182D5B-1743-48F6-8B07-6BB1FD98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Detail-oriented — organizations depend on secure systems and people who notice problems early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cue-dot-1">
            <a:extLst xmlns:a="http://schemas.openxmlformats.org/drawingml/2006/main">
              <a:ext uri="{FF2B5EF4-FFF2-40B4-BE49-F238E27FC236}">
                <a16:creationId xmlns:a16="http://schemas.microsoft.com/office/drawing/2014/main" id="{A0CD2CF2-8DCA-4F5E-B6F9-5AEE04BE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cue-1">
            <a:extLst xmlns:a="http://schemas.openxmlformats.org/drawingml/2006/main">
              <a:ext uri="{FF2B5EF4-FFF2-40B4-BE49-F238E27FC236}">
                <a16:creationId xmlns:a16="http://schemas.microsoft.com/office/drawing/2014/main" id="{E4576107-F787-4CD5-88F1-11380EBA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Work experience: reliability, process discipline, teamwork, and documentation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cue-dot-2">
            <a:extLst xmlns:a="http://schemas.openxmlformats.org/drawingml/2006/main">
              <a:ext uri="{FF2B5EF4-FFF2-40B4-BE49-F238E27FC236}">
                <a16:creationId xmlns:a16="http://schemas.microsoft.com/office/drawing/2014/main" id="{87932558-36C6-4A61-9296-2A1C27A1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cue-2">
            <a:extLst xmlns:a="http://schemas.openxmlformats.org/drawingml/2006/main">
              <a:ext uri="{FF2B5EF4-FFF2-40B4-BE49-F238E27FC236}">
                <a16:creationId xmlns:a16="http://schemas.microsoft.com/office/drawing/2014/main" id="{83424E30-2882-4CAD-993B-3AF8F941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Technical areas: risk assessment, threat and vulnerability management, network security, web app security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cue-dot-3">
            <a:extLst xmlns:a="http://schemas.openxmlformats.org/drawingml/2006/main">
              <a:ext uri="{FF2B5EF4-FFF2-40B4-BE49-F238E27FC236}">
                <a16:creationId xmlns:a16="http://schemas.microsoft.com/office/drawing/2014/main" id="{16ECF617-7F0B-41E5-AD8F-28D1CCB3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cue-3">
            <a:extLst xmlns:a="http://schemas.openxmlformats.org/drawingml/2006/main">
              <a:ext uri="{FF2B5EF4-FFF2-40B4-BE49-F238E27FC236}">
                <a16:creationId xmlns:a16="http://schemas.microsoft.com/office/drawing/2014/main" id="{906707F0-1D57-4EEB-A6CD-B5934F26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Also: Linux, cryptography, database security, Python, SQL, incident response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304B64-4E76-4C46-B211-B535DB83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02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footer">
            <a:extLst xmlns:a="http://schemas.openxmlformats.org/drawingml/2006/main">
              <a:ext uri="{FF2B5EF4-FFF2-40B4-BE49-F238E27FC236}">
                <a16:creationId xmlns:a16="http://schemas.microsoft.com/office/drawing/2014/main" id="{FB5A9E25-EBEF-4C4C-AD02-453A3266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14013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202206F8-1BD5-4DA7-A1A8-0084E7C3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05C8CA21-4CE3-490C-9EAC-201E517C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card-number">
            <a:extLst xmlns:a="http://schemas.openxmlformats.org/drawingml/2006/main">
              <a:ext uri="{FF2B5EF4-FFF2-40B4-BE49-F238E27FC236}">
                <a16:creationId xmlns:a16="http://schemas.microsoft.com/office/drawing/2014/main" id="{61779A1A-E127-4F3F-9400-71384561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03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timing">
            <a:extLst xmlns:a="http://schemas.openxmlformats.org/drawingml/2006/main">
              <a:ext uri="{FF2B5EF4-FFF2-40B4-BE49-F238E27FC236}">
                <a16:creationId xmlns:a16="http://schemas.microsoft.com/office/drawing/2014/main" id="{107A0170-788D-46AF-AF1C-A7FCC155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1:23–1:52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accent-bar">
            <a:extLst xmlns:a="http://schemas.openxmlformats.org/drawingml/2006/main">
              <a:ext uri="{FF2B5EF4-FFF2-40B4-BE49-F238E27FC236}">
                <a16:creationId xmlns:a16="http://schemas.microsoft.com/office/drawing/2014/main" id="{DD83660E-0992-4FA9-B399-86973AAE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5E1C0A-A77F-47E4-B741-D561BDA5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Why These Projects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cue-label">
            <a:extLst xmlns:a="http://schemas.openxmlformats.org/drawingml/2006/main">
              <a:ext uri="{FF2B5EF4-FFF2-40B4-BE49-F238E27FC236}">
                <a16:creationId xmlns:a16="http://schemas.microsoft.com/office/drawing/2014/main" id="{0B91F041-C04B-4701-98EE-9C8A3BE4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cue-dot-0">
            <a:extLst xmlns:a="http://schemas.openxmlformats.org/drawingml/2006/main">
              <a:ext uri="{FF2B5EF4-FFF2-40B4-BE49-F238E27FC236}">
                <a16:creationId xmlns:a16="http://schemas.microsoft.com/office/drawing/2014/main" id="{A9D8A8A4-4D1B-4EFB-A611-AB5A2EC6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cue-0">
            <a:extLst xmlns:a="http://schemas.openxmlformats.org/drawingml/2006/main">
              <a:ext uri="{FF2B5EF4-FFF2-40B4-BE49-F238E27FC236}">
                <a16:creationId xmlns:a16="http://schemas.microsoft.com/office/drawing/2014/main" id="{F0B74570-FD23-46A2-833F-0F22E7B4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SOC Analyst: monitors systems, investigates alerts, prioritizes risk, communicates findings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cue-dot-1">
            <a:extLst xmlns:a="http://schemas.openxmlformats.org/drawingml/2006/main">
              <a:ext uri="{FF2B5EF4-FFF2-40B4-BE49-F238E27FC236}">
                <a16:creationId xmlns:a16="http://schemas.microsoft.com/office/drawing/2014/main" id="{DB9003F3-8B89-4B5A-B73D-9ED2CC34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cue-1">
            <a:extLst xmlns:a="http://schemas.openxmlformats.org/drawingml/2006/main">
              <a:ext uri="{FF2B5EF4-FFF2-40B4-BE49-F238E27FC236}">
                <a16:creationId xmlns:a16="http://schemas.microsoft.com/office/drawing/2014/main" id="{45237516-76DB-4B3B-9361-A37FA08E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Projects show risk-based thinking, investigation, and planning security fixes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cue-dot-2">
            <a:extLst xmlns:a="http://schemas.openxmlformats.org/drawingml/2006/main">
              <a:ext uri="{FF2B5EF4-FFF2-40B4-BE49-F238E27FC236}">
                <a16:creationId xmlns:a16="http://schemas.microsoft.com/office/drawing/2014/main" id="{DEED9EE4-264D-44D3-B433-B096BBEC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cue-2">
            <a:extLst xmlns:a="http://schemas.openxmlformats.org/drawingml/2006/main">
              <a:ext uri="{FF2B5EF4-FFF2-40B4-BE49-F238E27FC236}">
                <a16:creationId xmlns:a16="http://schemas.microsoft.com/office/drawing/2014/main" id="{91C537FB-66CF-4F5C-9DDE-912C8A19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8 projects total: 6 cybersecurity case studies + 2 programming/e-commerce projects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B44B02-0497-471A-AB59-5FF67332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03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footer">
            <a:extLst xmlns:a="http://schemas.openxmlformats.org/drawingml/2006/main">
              <a:ext uri="{FF2B5EF4-FFF2-40B4-BE49-F238E27FC236}">
                <a16:creationId xmlns:a16="http://schemas.microsoft.com/office/drawing/2014/main" id="{DC432D45-E92F-43BF-8A66-9D0ACAA7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67350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C743D190-7F43-43A9-B0BC-2B3BE055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24AE995-4787-4CAC-95D6-27FD547C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3C90F69-E25C-496F-BB09-D3D8655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04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iming">
            <a:extLst xmlns:a="http://schemas.openxmlformats.org/drawingml/2006/main">
              <a:ext uri="{FF2B5EF4-FFF2-40B4-BE49-F238E27FC236}">
                <a16:creationId xmlns:a16="http://schemas.microsoft.com/office/drawing/2014/main" id="{BC848991-AFDA-4D3E-AF30-6E922C5E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1:52–2:57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accent-bar">
            <a:extLst xmlns:a="http://schemas.openxmlformats.org/drawingml/2006/main">
              <a:ext uri="{FF2B5EF4-FFF2-40B4-BE49-F238E27FC236}">
                <a16:creationId xmlns:a16="http://schemas.microsoft.com/office/drawing/2014/main" id="{898E8545-050A-46ED-A561-51C59D4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8D719-E1BC-4CAF-9472-0CFA539A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1 — Northbridge Logistics Risk Assessment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cue-label">
            <a:extLst xmlns:a="http://schemas.openxmlformats.org/drawingml/2006/main">
              <a:ext uri="{FF2B5EF4-FFF2-40B4-BE49-F238E27FC236}">
                <a16:creationId xmlns:a16="http://schemas.microsoft.com/office/drawing/2014/main" id="{1CAC43BB-ADBA-4B9D-8EC1-F281AF8D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cue-dot-0">
            <a:extLst xmlns:a="http://schemas.openxmlformats.org/drawingml/2006/main">
              <a:ext uri="{FF2B5EF4-FFF2-40B4-BE49-F238E27FC236}">
                <a16:creationId xmlns:a16="http://schemas.microsoft.com/office/drawing/2014/main" id="{D243B5A4-3FD9-4B01-874E-40B18985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cue-0">
            <a:extLst xmlns:a="http://schemas.openxmlformats.org/drawingml/2006/main">
              <a:ext uri="{FF2B5EF4-FFF2-40B4-BE49-F238E27FC236}">
                <a16:creationId xmlns:a16="http://schemas.microsoft.com/office/drawing/2014/main" id="{A6C87A39-158E-4741-BF79-513D22AA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Logistics company: 150 employees across 3 office locations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cue-dot-1">
            <a:extLst xmlns:a="http://schemas.openxmlformats.org/drawingml/2006/main">
              <a:ext uri="{FF2B5EF4-FFF2-40B4-BE49-F238E27FC236}">
                <a16:creationId xmlns:a16="http://schemas.microsoft.com/office/drawing/2014/main" id="{D7B461BA-96F5-4AED-895F-DBB46BA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cue-1">
            <a:extLst xmlns:a="http://schemas.openxmlformats.org/drawingml/2006/main">
              <a:ext uri="{FF2B5EF4-FFF2-40B4-BE49-F238E27FC236}">
                <a16:creationId xmlns:a16="http://schemas.microsoft.com/office/drawing/2014/main" id="{B58454A9-9F4C-483F-8354-2BD2823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Identified assets, threats, vulnerabilities, and business impact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cue-dot-2">
            <a:extLst xmlns:a="http://schemas.openxmlformats.org/drawingml/2006/main">
              <a:ext uri="{FF2B5EF4-FFF2-40B4-BE49-F238E27FC236}">
                <a16:creationId xmlns:a16="http://schemas.microsoft.com/office/drawing/2014/main" id="{C4E3EBEB-76F6-458F-9049-2A9AB7CF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cue-2">
            <a:extLst xmlns:a="http://schemas.openxmlformats.org/drawingml/2006/main">
              <a:ext uri="{FF2B5EF4-FFF2-40B4-BE49-F238E27FC236}">
                <a16:creationId xmlns:a16="http://schemas.microsoft.com/office/drawing/2014/main" id="{B60E1CA8-2E44-4A4E-BD28-3E85E94C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Controls: MFA, EDR, network segmentation, SIEM, patching, backup and disaster recovery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cue-dot-3">
            <a:extLst xmlns:a="http://schemas.openxmlformats.org/drawingml/2006/main">
              <a:ext uri="{FF2B5EF4-FFF2-40B4-BE49-F238E27FC236}">
                <a16:creationId xmlns:a16="http://schemas.microsoft.com/office/drawing/2014/main" id="{512670CF-AD43-40C7-A91B-E3F507D8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cue-3">
            <a:extLst xmlns:a="http://schemas.openxmlformats.org/drawingml/2006/main">
              <a:ext uri="{FF2B5EF4-FFF2-40B4-BE49-F238E27FC236}">
                <a16:creationId xmlns:a16="http://schemas.microsoft.com/office/drawing/2014/main" id="{8F50BDF4-ED37-40B4-B7B8-C5DBF07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Key point: prioritizing risk and building a roadmap, not just naming tools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cue-dot-4">
            <a:extLst xmlns:a="http://schemas.openxmlformats.org/drawingml/2006/main">
              <a:ext uri="{FF2B5EF4-FFF2-40B4-BE49-F238E27FC236}">
                <a16:creationId xmlns:a16="http://schemas.microsoft.com/office/drawing/2014/main" id="{88229850-E17E-4B68-9A0B-B48F204A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cue-4">
            <a:extLst xmlns:a="http://schemas.openxmlformats.org/drawingml/2006/main">
              <a:ext uri="{FF2B5EF4-FFF2-40B4-BE49-F238E27FC236}">
                <a16:creationId xmlns:a16="http://schemas.microsoft.com/office/drawing/2014/main" id="{A01DB49B-97EC-45CE-BD23-DC0EE5D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Roadmap: contain highest risks → detect and harden → validate controls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92EE30-BF48-4732-AA5C-678A07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04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footer">
            <a:extLst xmlns:a="http://schemas.openxmlformats.org/drawingml/2006/main">
              <a:ext uri="{FF2B5EF4-FFF2-40B4-BE49-F238E27FC236}">
                <a16:creationId xmlns:a16="http://schemas.microsoft.com/office/drawing/2014/main" id="{885CE818-C6F7-4EE3-8D7F-391C103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57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FAF3D94D-2E21-4CD0-8E2F-6E4F128E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B8F0D813-9FD4-431F-A81D-D9B91047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card-number">
            <a:extLst xmlns:a="http://schemas.openxmlformats.org/drawingml/2006/main">
              <a:ext uri="{FF2B5EF4-FFF2-40B4-BE49-F238E27FC236}">
                <a16:creationId xmlns:a16="http://schemas.microsoft.com/office/drawing/2014/main" id="{92D6C36C-3234-437D-9A93-3E8AEE9D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05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timing">
            <a:extLst xmlns:a="http://schemas.openxmlformats.org/drawingml/2006/main">
              <a:ext uri="{FF2B5EF4-FFF2-40B4-BE49-F238E27FC236}">
                <a16:creationId xmlns:a16="http://schemas.microsoft.com/office/drawing/2014/main" id="{3986E005-E684-485A-AC57-19E8B121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2:57–3:48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accent-bar">
            <a:extLst xmlns:a="http://schemas.openxmlformats.org/drawingml/2006/main">
              <a:ext uri="{FF2B5EF4-FFF2-40B4-BE49-F238E27FC236}">
                <a16:creationId xmlns:a16="http://schemas.microsoft.com/office/drawing/2014/main" id="{C059A658-1F55-4EB1-A62B-BB6F1EFC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C61002-4DB4-4C59-B7FE-C53C0973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2 — SecureHealth Cryptography &amp; Network Security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cue-label">
            <a:extLst xmlns:a="http://schemas.openxmlformats.org/drawingml/2006/main">
              <a:ext uri="{FF2B5EF4-FFF2-40B4-BE49-F238E27FC236}">
                <a16:creationId xmlns:a16="http://schemas.microsoft.com/office/drawing/2014/main" id="{301CD49F-8912-45B6-878A-61D017FF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cue-dot-0">
            <a:extLst xmlns:a="http://schemas.openxmlformats.org/drawingml/2006/main">
              <a:ext uri="{FF2B5EF4-FFF2-40B4-BE49-F238E27FC236}">
                <a16:creationId xmlns:a16="http://schemas.microsoft.com/office/drawing/2014/main" id="{FE1D8430-2A7F-410F-B429-4B208597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cue-0">
            <a:extLst xmlns:a="http://schemas.openxmlformats.org/drawingml/2006/main">
              <a:ext uri="{FF2B5EF4-FFF2-40B4-BE49-F238E27FC236}">
                <a16:creationId xmlns:a16="http://schemas.microsoft.com/office/drawing/2014/main" id="{96B7A2AF-46A2-4322-9F9A-3E79EB67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Protecting healthcare information: confidentiality, integrity, and availability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cue-dot-1">
            <a:extLst xmlns:a="http://schemas.openxmlformats.org/drawingml/2006/main">
              <a:ext uri="{FF2B5EF4-FFF2-40B4-BE49-F238E27FC236}">
                <a16:creationId xmlns:a16="http://schemas.microsoft.com/office/drawing/2014/main" id="{DCBF977E-0449-4DD8-AAB6-EF44B1C3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cue-1">
            <a:extLst xmlns:a="http://schemas.openxmlformats.org/drawingml/2006/main">
              <a:ext uri="{FF2B5EF4-FFF2-40B4-BE49-F238E27FC236}">
                <a16:creationId xmlns:a16="http://schemas.microsoft.com/office/drawing/2014/main" id="{ED3EF394-A6A8-4CA0-8554-4A3F9322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TLS 1.3 for data in transit; AES-256-GCM for sensitive data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cue-dot-2">
            <a:extLst xmlns:a="http://schemas.openxmlformats.org/drawingml/2006/main">
              <a:ext uri="{FF2B5EF4-FFF2-40B4-BE49-F238E27FC236}">
                <a16:creationId xmlns:a16="http://schemas.microsoft.com/office/drawing/2014/main" id="{6AAB62C7-C3CF-4361-A25D-955E102A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cue-2">
            <a:extLst xmlns:a="http://schemas.openxmlformats.org/drawingml/2006/main">
              <a:ext uri="{FF2B5EF4-FFF2-40B4-BE49-F238E27FC236}">
                <a16:creationId xmlns:a16="http://schemas.microsoft.com/office/drawing/2014/main" id="{485EB41A-34B9-4240-9021-95B5B4B3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PKI for certificates, secure key management, and IPsec VPN between locations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cue-dot-3">
            <a:extLst xmlns:a="http://schemas.openxmlformats.org/drawingml/2006/main">
              <a:ext uri="{FF2B5EF4-FFF2-40B4-BE49-F238E27FC236}">
                <a16:creationId xmlns:a16="http://schemas.microsoft.com/office/drawing/2014/main" id="{11E851AB-879B-4E31-A0C9-14CC2CD9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cue-3">
            <a:extLst xmlns:a="http://schemas.openxmlformats.org/drawingml/2006/main">
              <a:ext uri="{FF2B5EF4-FFF2-40B4-BE49-F238E27FC236}">
                <a16:creationId xmlns:a16="http://schemas.microsoft.com/office/drawing/2014/main" id="{F63AE8F0-5B14-4FF1-A227-30B1492D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Tied to HIPAA and HITECH requirements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cue-dot-4">
            <a:extLst xmlns:a="http://schemas.openxmlformats.org/drawingml/2006/main">
              <a:ext uri="{FF2B5EF4-FFF2-40B4-BE49-F238E27FC236}">
                <a16:creationId xmlns:a16="http://schemas.microsoft.com/office/drawing/2014/main" id="{CEB0606C-B5F1-4F3C-B22D-F9E62C5F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cue-4">
            <a:extLst xmlns:a="http://schemas.openxmlformats.org/drawingml/2006/main">
              <a:ext uri="{FF2B5EF4-FFF2-40B4-BE49-F238E27FC236}">
                <a16:creationId xmlns:a16="http://schemas.microsoft.com/office/drawing/2014/main" id="{A455E552-BF43-4C12-83CD-2201DEAF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Lesson: encryption must be managed through the full key and certificate lifecycle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6F4A6F-646F-4FA7-982F-A0B10E1F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05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footer">
            <a:extLst xmlns:a="http://schemas.openxmlformats.org/drawingml/2006/main">
              <a:ext uri="{FF2B5EF4-FFF2-40B4-BE49-F238E27FC236}">
                <a16:creationId xmlns:a16="http://schemas.microsoft.com/office/drawing/2014/main" id="{C76B697B-BD2B-4F90-A1C5-106A71FC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29753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B84D5B2D-5866-41E9-A45B-E59A9927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D05F0CC-C640-4A93-821C-2CFB860D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card-number">
            <a:extLst xmlns:a="http://schemas.openxmlformats.org/drawingml/2006/main">
              <a:ext uri="{FF2B5EF4-FFF2-40B4-BE49-F238E27FC236}">
                <a16:creationId xmlns:a16="http://schemas.microsoft.com/office/drawing/2014/main" id="{8B9EF1B6-00C8-428A-BC63-4169FBB7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06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timing">
            <a:extLst xmlns:a="http://schemas.openxmlformats.org/drawingml/2006/main">
              <a:ext uri="{FF2B5EF4-FFF2-40B4-BE49-F238E27FC236}">
                <a16:creationId xmlns:a16="http://schemas.microsoft.com/office/drawing/2014/main" id="{BF9BE577-E068-4162-9CE4-AB7F61AE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3:48–4:35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accent-bar">
            <a:extLst xmlns:a="http://schemas.openxmlformats.org/drawingml/2006/main">
              <a:ext uri="{FF2B5EF4-FFF2-40B4-BE49-F238E27FC236}">
                <a16:creationId xmlns:a16="http://schemas.microsoft.com/office/drawing/2014/main" id="{D18A0DD1-F46F-4AE2-A5AD-F5AF0981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B31C70-5C39-49C5-8F6C-AC07D63C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3 — Healthcare Clinic Secure Database Design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cue-label">
            <a:extLst xmlns:a="http://schemas.openxmlformats.org/drawingml/2006/main">
              <a:ext uri="{FF2B5EF4-FFF2-40B4-BE49-F238E27FC236}">
                <a16:creationId xmlns:a16="http://schemas.microsoft.com/office/drawing/2014/main" id="{35D4227C-8799-42E7-9CE8-2C11B6DF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cue-dot-0">
            <a:extLst xmlns:a="http://schemas.openxmlformats.org/drawingml/2006/main">
              <a:ext uri="{FF2B5EF4-FFF2-40B4-BE49-F238E27FC236}">
                <a16:creationId xmlns:a16="http://schemas.microsoft.com/office/drawing/2014/main" id="{667E39E6-DD24-4FE0-87DC-732C7C53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cue-0">
            <a:extLst xmlns:a="http://schemas.openxmlformats.org/drawingml/2006/main">
              <a:ext uri="{FF2B5EF4-FFF2-40B4-BE49-F238E27FC236}">
                <a16:creationId xmlns:a16="http://schemas.microsoft.com/office/drawing/2014/main" id="{7D69319A-29E4-49E1-A808-517CD173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Secure PostgreSQL database for a healthcare clinic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cue-dot-1">
            <a:extLst xmlns:a="http://schemas.openxmlformats.org/drawingml/2006/main">
              <a:ext uri="{FF2B5EF4-FFF2-40B4-BE49-F238E27FC236}">
                <a16:creationId xmlns:a16="http://schemas.microsoft.com/office/drawing/2014/main" id="{A4997EC6-92C7-43D7-939B-272BBFD2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cue-1">
            <a:extLst xmlns:a="http://schemas.openxmlformats.org/drawingml/2006/main">
              <a:ext uri="{FF2B5EF4-FFF2-40B4-BE49-F238E27FC236}">
                <a16:creationId xmlns:a16="http://schemas.microsoft.com/office/drawing/2014/main" id="{ADC9218B-9B55-4549-8683-5B7D782B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RBAC and least privilege, encryption at rest, and encrypted connections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cue-dot-2">
            <a:extLst xmlns:a="http://schemas.openxmlformats.org/drawingml/2006/main">
              <a:ext uri="{FF2B5EF4-FFF2-40B4-BE49-F238E27FC236}">
                <a16:creationId xmlns:a16="http://schemas.microsoft.com/office/drawing/2014/main" id="{663E37E7-E918-4DD1-A5D1-AC9BEAEB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cue-2">
            <a:extLst xmlns:a="http://schemas.openxmlformats.org/drawingml/2006/main">
              <a:ext uri="{FF2B5EF4-FFF2-40B4-BE49-F238E27FC236}">
                <a16:creationId xmlns:a16="http://schemas.microsoft.com/office/drawing/2014/main" id="{329CA4CA-7873-44DC-8F80-4CF67B91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Audit logging, backups, and recovery planning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cue-dot-3">
            <a:extLst xmlns:a="http://schemas.openxmlformats.org/drawingml/2006/main">
              <a:ext uri="{FF2B5EF4-FFF2-40B4-BE49-F238E27FC236}">
                <a16:creationId xmlns:a16="http://schemas.microsoft.com/office/drawing/2014/main" id="{D997BA0B-2845-4F33-B96F-F13D4570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cue-3">
            <a:extLst xmlns:a="http://schemas.openxmlformats.org/drawingml/2006/main">
              <a:ext uri="{FF2B5EF4-FFF2-40B4-BE49-F238E27FC236}">
                <a16:creationId xmlns:a16="http://schemas.microsoft.com/office/drawing/2014/main" id="{9886F127-18B3-485E-B543-334DABBD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Staff access only what their job needs — reduces risk and supports privacy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cue-dot-4">
            <a:extLst xmlns:a="http://schemas.openxmlformats.org/drawingml/2006/main">
              <a:ext uri="{FF2B5EF4-FFF2-40B4-BE49-F238E27FC236}">
                <a16:creationId xmlns:a16="http://schemas.microsoft.com/office/drawing/2014/main" id="{38928ACF-F015-40F5-940E-06C13E16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cue-4">
            <a:extLst xmlns:a="http://schemas.openxmlformats.org/drawingml/2006/main">
              <a:ext uri="{FF2B5EF4-FFF2-40B4-BE49-F238E27FC236}">
                <a16:creationId xmlns:a16="http://schemas.microsoft.com/office/drawing/2014/main" id="{F0659111-931A-4302-9293-D5EA694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Lesson: weak access control and poor logging can lead to incidents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D9EB74-1741-48A0-9161-6EE17189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06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footer">
            <a:extLst xmlns:a="http://schemas.openxmlformats.org/drawingml/2006/main">
              <a:ext uri="{FF2B5EF4-FFF2-40B4-BE49-F238E27FC236}">
                <a16:creationId xmlns:a16="http://schemas.microsoft.com/office/drawing/2014/main" id="{AD844F07-AF44-44BF-8684-30C5A2ED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88106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4C2C4EE8-F489-42DE-96C7-46ACE53B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C511C982-9BAB-4A48-8880-A94A2632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card-number">
            <a:extLst xmlns:a="http://schemas.openxmlformats.org/drawingml/2006/main">
              <a:ext uri="{FF2B5EF4-FFF2-40B4-BE49-F238E27FC236}">
                <a16:creationId xmlns:a16="http://schemas.microsoft.com/office/drawing/2014/main" id="{CC3038D1-8642-4D38-A3AF-247AD217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07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timing">
            <a:extLst xmlns:a="http://schemas.openxmlformats.org/drawingml/2006/main">
              <a:ext uri="{FF2B5EF4-FFF2-40B4-BE49-F238E27FC236}">
                <a16:creationId xmlns:a16="http://schemas.microsoft.com/office/drawing/2014/main" id="{07A9B92D-51B3-4DAA-A426-FC9DC5BB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4:35–5:28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accent-bar">
            <a:extLst xmlns:a="http://schemas.openxmlformats.org/drawingml/2006/main">
              <a:ext uri="{FF2B5EF4-FFF2-40B4-BE49-F238E27FC236}">
                <a16:creationId xmlns:a16="http://schemas.microsoft.com/office/drawing/2014/main" id="{AD078FAB-BF21-431F-99E2-3EC39C76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7BE327-2F54-4954-AD45-B9F44423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4 — RetailHub OWASP Web App Assessment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cue-label">
            <a:extLst xmlns:a="http://schemas.openxmlformats.org/drawingml/2006/main">
              <a:ext uri="{FF2B5EF4-FFF2-40B4-BE49-F238E27FC236}">
                <a16:creationId xmlns:a16="http://schemas.microsoft.com/office/drawing/2014/main" id="{B7003276-4AB7-4C3F-840F-B1768696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cue-dot-0">
            <a:extLst xmlns:a="http://schemas.openxmlformats.org/drawingml/2006/main">
              <a:ext uri="{FF2B5EF4-FFF2-40B4-BE49-F238E27FC236}">
                <a16:creationId xmlns:a16="http://schemas.microsoft.com/office/drawing/2014/main" id="{146CE607-89CB-448D-A4B2-E2BCC898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cue-0">
            <a:extLst xmlns:a="http://schemas.openxmlformats.org/drawingml/2006/main">
              <a:ext uri="{FF2B5EF4-FFF2-40B4-BE49-F238E27FC236}">
                <a16:creationId xmlns:a16="http://schemas.microsoft.com/office/drawing/2014/main" id="{84DA0838-FB71-4785-BD1B-7CE1D1C5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E-commerce app reviewed against the OWASP Top 10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cue-dot-1">
            <a:extLst xmlns:a="http://schemas.openxmlformats.org/drawingml/2006/main">
              <a:ext uri="{FF2B5EF4-FFF2-40B4-BE49-F238E27FC236}">
                <a16:creationId xmlns:a16="http://schemas.microsoft.com/office/drawing/2014/main" id="{864C29C9-E57F-491B-BB13-EDE493A9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1911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cue-1">
            <a:extLst xmlns:a="http://schemas.openxmlformats.org/drawingml/2006/main">
              <a:ext uri="{FF2B5EF4-FFF2-40B4-BE49-F238E27FC236}">
                <a16:creationId xmlns:a16="http://schemas.microsoft.com/office/drawing/2014/main" id="{8FADB0A3-F551-4AC2-AB1B-6699D52E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07664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Risks: broken access control, injection, XSS, weak authentication, insufficient logging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cue-dot-2">
            <a:extLst xmlns:a="http://schemas.openxmlformats.org/drawingml/2006/main">
              <a:ext uri="{FF2B5EF4-FFF2-40B4-BE49-F238E27FC236}">
                <a16:creationId xmlns:a16="http://schemas.microsoft.com/office/drawing/2014/main" id="{2535787A-4AAD-4FE7-89C1-BABDAFB8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7052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cue-2">
            <a:extLst xmlns:a="http://schemas.openxmlformats.org/drawingml/2006/main">
              <a:ext uri="{FF2B5EF4-FFF2-40B4-BE49-F238E27FC236}">
                <a16:creationId xmlns:a16="http://schemas.microsoft.com/office/drawing/2014/main" id="{060236F0-B28C-48E8-B2B6-0076E8B2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59108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Remediation: MFA, stronger access controls, input validation, SAST/DAST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cue-dot-3">
            <a:extLst xmlns:a="http://schemas.openxmlformats.org/drawingml/2006/main">
              <a:ext uri="{FF2B5EF4-FFF2-40B4-BE49-F238E27FC236}">
                <a16:creationId xmlns:a16="http://schemas.microsoft.com/office/drawing/2014/main" id="{3C70B303-4B48-4BD2-AFF3-2764F42D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2196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cue-3">
            <a:extLst xmlns:a="http://schemas.openxmlformats.org/drawingml/2006/main">
              <a:ext uri="{FF2B5EF4-FFF2-40B4-BE49-F238E27FC236}">
                <a16:creationId xmlns:a16="http://schemas.microsoft.com/office/drawing/2014/main" id="{8BCFE776-FC77-4EFD-9721-721D8E72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10552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Also: logging, monitoring, and a web application firewall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cue-dot-4">
            <a:extLst xmlns:a="http://schemas.openxmlformats.org/drawingml/2006/main">
              <a:ext uri="{FF2B5EF4-FFF2-40B4-BE49-F238E27FC236}">
                <a16:creationId xmlns:a16="http://schemas.microsoft.com/office/drawing/2014/main" id="{8AD2C38B-A97F-4EBD-9CD1-ACD9CE29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7340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cue-4">
            <a:extLst xmlns:a="http://schemas.openxmlformats.org/drawingml/2006/main">
              <a:ext uri="{FF2B5EF4-FFF2-40B4-BE49-F238E27FC236}">
                <a16:creationId xmlns:a16="http://schemas.microsoft.com/office/drawing/2014/main" id="{61B90BF3-1E6D-4E5B-88CA-80E64799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619600"/>
            <a:ext cx="852408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Why it matters for SOC: web weaknesses lead to alerts, incidents, and business impact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5CCA0F-371B-4570-8524-E4C3C1B8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07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footer">
            <a:extLst xmlns:a="http://schemas.openxmlformats.org/drawingml/2006/main">
              <a:ext uri="{FF2B5EF4-FFF2-40B4-BE49-F238E27FC236}">
                <a16:creationId xmlns:a16="http://schemas.microsoft.com/office/drawing/2014/main" id="{F64B042F-0B69-47C0-B0B0-5F11CCED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6665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26B587FA-250C-4F5A-9814-43C76B7F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C57BCA07-EC7A-4421-9E7A-0FBC07B6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card-number">
            <a:extLst xmlns:a="http://schemas.openxmlformats.org/drawingml/2006/main">
              <a:ext uri="{FF2B5EF4-FFF2-40B4-BE49-F238E27FC236}">
                <a16:creationId xmlns:a16="http://schemas.microsoft.com/office/drawing/2014/main" id="{AE487970-D10E-4143-BB4C-56007BE0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timing">
            <a:extLst xmlns:a="http://schemas.openxmlformats.org/drawingml/2006/main">
              <a:ext uri="{FF2B5EF4-FFF2-40B4-BE49-F238E27FC236}">
                <a16:creationId xmlns:a16="http://schemas.microsoft.com/office/drawing/2014/main" id="{81933E38-6CDC-43C4-A7B0-08DA75C0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5:28–6:19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accent-bar">
            <a:extLst xmlns:a="http://schemas.openxmlformats.org/drawingml/2006/main">
              <a:ext uri="{FF2B5EF4-FFF2-40B4-BE49-F238E27FC236}">
                <a16:creationId xmlns:a16="http://schemas.microsoft.com/office/drawing/2014/main" id="{CDE740EE-CECE-44C4-AC31-77DDFAE2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38936D-7EE2-4DF5-8DDF-CCEBF045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55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5 — ABC Logistics Threat &amp; Vulnerability Management</a:t>
            </a:r>
            <a:endParaRPr sz="25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cue-label">
            <a:extLst xmlns:a="http://schemas.openxmlformats.org/drawingml/2006/main">
              <a:ext uri="{FF2B5EF4-FFF2-40B4-BE49-F238E27FC236}">
                <a16:creationId xmlns:a16="http://schemas.microsoft.com/office/drawing/2014/main" id="{2E7F2A95-3DA7-47F5-A3AA-E42C2FAA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cue-dot-0">
            <a:extLst xmlns:a="http://schemas.openxmlformats.org/drawingml/2006/main">
              <a:ext uri="{FF2B5EF4-FFF2-40B4-BE49-F238E27FC236}">
                <a16:creationId xmlns:a16="http://schemas.microsoft.com/office/drawing/2014/main" id="{126C1B70-4412-4F3C-9E22-2F4D4E8D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cue-0">
            <a:extLst xmlns:a="http://schemas.openxmlformats.org/drawingml/2006/main">
              <a:ext uri="{FF2B5EF4-FFF2-40B4-BE49-F238E27FC236}">
                <a16:creationId xmlns:a16="http://schemas.microsoft.com/office/drawing/2014/main" id="{6F67ACAF-DCFA-4F32-9995-55C41F1A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Full lifecycle: discover → prioritize → remediate → verify → report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cue-dot-1">
            <a:extLst xmlns:a="http://schemas.openxmlformats.org/drawingml/2006/main">
              <a:ext uri="{FF2B5EF4-FFF2-40B4-BE49-F238E27FC236}">
                <a16:creationId xmlns:a16="http://schemas.microsoft.com/office/drawing/2014/main" id="{BD3D69A1-761A-49DE-A036-92AD16EB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cue-1">
            <a:extLst xmlns:a="http://schemas.openxmlformats.org/drawingml/2006/main">
              <a:ext uri="{FF2B5EF4-FFF2-40B4-BE49-F238E27FC236}">
                <a16:creationId xmlns:a16="http://schemas.microsoft.com/office/drawing/2014/main" id="{8B03D089-D1AA-4E32-AB93-8FD10F2F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Prioritized with CVSS scoring, asset importance, exploitability, and business impact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cue-dot-2">
            <a:extLst xmlns:a="http://schemas.openxmlformats.org/drawingml/2006/main">
              <a:ext uri="{FF2B5EF4-FFF2-40B4-BE49-F238E27FC236}">
                <a16:creationId xmlns:a16="http://schemas.microsoft.com/office/drawing/2014/main" id="{842C984A-AF93-4E7E-B913-C52104DB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cue-2">
            <a:extLst xmlns:a="http://schemas.openxmlformats.org/drawingml/2006/main">
              <a:ext uri="{FF2B5EF4-FFF2-40B4-BE49-F238E27FC236}">
                <a16:creationId xmlns:a16="http://schemas.microsoft.com/office/drawing/2014/main" id="{7F43E3C6-1E27-4289-A9B3-8F642934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Not every vulnerability is equal — a repeatable process focuses on what matters most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cue-dot-3">
            <a:extLst xmlns:a="http://schemas.openxmlformats.org/drawingml/2006/main">
              <a:ext uri="{FF2B5EF4-FFF2-40B4-BE49-F238E27FC236}">
                <a16:creationId xmlns:a16="http://schemas.microsoft.com/office/drawing/2014/main" id="{99FF8E19-677A-4CC6-8889-1BEDCADF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cue-3">
            <a:extLst xmlns:a="http://schemas.openxmlformats.org/drawingml/2006/main">
              <a:ext uri="{FF2B5EF4-FFF2-40B4-BE49-F238E27FC236}">
                <a16:creationId xmlns:a16="http://schemas.microsoft.com/office/drawing/2014/main" id="{3A98EFB9-561C-4CDC-9806-B7EF5B91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Closest project to day-to-day SOC work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E2892B-B2F1-4502-9B59-F79E0D33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08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footer">
            <a:extLst xmlns:a="http://schemas.openxmlformats.org/drawingml/2006/main">
              <a:ext uri="{FF2B5EF4-FFF2-40B4-BE49-F238E27FC236}">
                <a16:creationId xmlns:a16="http://schemas.microsoft.com/office/drawing/2014/main" id="{CD5FF097-F722-490E-9BD2-9186FD78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9904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1A849111-68EE-49D3-932C-DF6E9AC0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47F726D7-769D-4872-A152-CC83540D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card-number">
            <a:extLst xmlns:a="http://schemas.openxmlformats.org/drawingml/2006/main">
              <a:ext uri="{FF2B5EF4-FFF2-40B4-BE49-F238E27FC236}">
                <a16:creationId xmlns:a16="http://schemas.microsoft.com/office/drawing/2014/main" id="{8AF10B1E-AEE4-47F9-9184-255258E8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09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timing">
            <a:extLst xmlns:a="http://schemas.openxmlformats.org/drawingml/2006/main">
              <a:ext uri="{FF2B5EF4-FFF2-40B4-BE49-F238E27FC236}">
                <a16:creationId xmlns:a16="http://schemas.microsoft.com/office/drawing/2014/main" id="{02E6A37D-3AA1-4500-9D2A-A0313D77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6:19–7:09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accent-bar">
            <a:extLst xmlns:a="http://schemas.openxmlformats.org/drawingml/2006/main">
              <a:ext uri="{FF2B5EF4-FFF2-40B4-BE49-F238E27FC236}">
                <a16:creationId xmlns:a16="http://schemas.microsoft.com/office/drawing/2014/main" id="{32469D58-305E-4507-9B69-E5FF6BA8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AD8701-1A7E-4784-80F7-D75FEB1F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6 — IoT Smart Home Monitoring System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cue-label">
            <a:extLst xmlns:a="http://schemas.openxmlformats.org/drawingml/2006/main">
              <a:ext uri="{FF2B5EF4-FFF2-40B4-BE49-F238E27FC236}">
                <a16:creationId xmlns:a16="http://schemas.microsoft.com/office/drawing/2014/main" id="{1D1278C2-8891-4753-A547-6665B5FF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cue-dot-0">
            <a:extLst xmlns:a="http://schemas.openxmlformats.org/drawingml/2006/main">
              <a:ext uri="{FF2B5EF4-FFF2-40B4-BE49-F238E27FC236}">
                <a16:creationId xmlns:a16="http://schemas.microsoft.com/office/drawing/2014/main" id="{3C8541DA-098F-4E6F-97A8-CCE67922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cue-0">
            <a:extLst xmlns:a="http://schemas.openxmlformats.org/drawingml/2006/main">
              <a:ext uri="{FF2B5EF4-FFF2-40B4-BE49-F238E27FC236}">
                <a16:creationId xmlns:a16="http://schemas.microsoft.com/office/drawing/2014/main" id="{B1773BD5-599C-4D1E-9212-E78C7DA7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Raspberry Pi + sensors, MQTT over TLS, and a cloud dashboard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cue-dot-1">
            <a:extLst xmlns:a="http://schemas.openxmlformats.org/drawingml/2006/main">
              <a:ext uri="{FF2B5EF4-FFF2-40B4-BE49-F238E27FC236}">
                <a16:creationId xmlns:a16="http://schemas.microsoft.com/office/drawing/2014/main" id="{E5534BAD-5D3E-4BB0-B1DA-5F6390F8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cue-1">
            <a:extLst xmlns:a="http://schemas.openxmlformats.org/drawingml/2006/main">
              <a:ext uri="{FF2B5EF4-FFF2-40B4-BE49-F238E27FC236}">
                <a16:creationId xmlns:a16="http://schemas.microsoft.com/office/drawing/2014/main" id="{F329899C-B61A-4C24-9500-513ABBC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Threshold-based alerts when values leave a safe range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cue-dot-2">
            <a:extLst xmlns:a="http://schemas.openxmlformats.org/drawingml/2006/main">
              <a:ext uri="{FF2B5EF4-FFF2-40B4-BE49-F238E27FC236}">
                <a16:creationId xmlns:a16="http://schemas.microsoft.com/office/drawing/2014/main" id="{7D226C93-9336-4D56-8BA8-6206CC9B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cue-2">
            <a:extLst xmlns:a="http://schemas.openxmlformats.org/drawingml/2006/main">
              <a:ext uri="{FF2B5EF4-FFF2-40B4-BE49-F238E27FC236}">
                <a16:creationId xmlns:a16="http://schemas.microsoft.com/office/drawing/2014/main" id="{746741C6-31A3-4D43-8DA3-37BC55A6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Security focus: data in transit, secure device communication, encrypted alerts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cue-dot-3">
            <a:extLst xmlns:a="http://schemas.openxmlformats.org/drawingml/2006/main">
              <a:ext uri="{FF2B5EF4-FFF2-40B4-BE49-F238E27FC236}">
                <a16:creationId xmlns:a16="http://schemas.microsoft.com/office/drawing/2014/main" id="{EBA3286D-2BA8-4389-864D-ECD2988A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cue-3">
            <a:extLst xmlns:a="http://schemas.openxmlformats.org/drawingml/2006/main">
              <a:ext uri="{FF2B5EF4-FFF2-40B4-BE49-F238E27FC236}">
                <a16:creationId xmlns:a16="http://schemas.microsoft.com/office/drawing/2014/main" id="{24EDFFFB-FA15-49A7-8CFD-8B055EA7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Lesson: every connected device is useful data and a new security risk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8476AF-8233-4A4C-90BB-36382610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09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footer">
            <a:extLst xmlns:a="http://schemas.openxmlformats.org/drawingml/2006/main">
              <a:ext uri="{FF2B5EF4-FFF2-40B4-BE49-F238E27FC236}">
                <a16:creationId xmlns:a16="http://schemas.microsoft.com/office/drawing/2014/main" id="{DDC6C245-F6E6-4D32-A612-52C03B3D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26091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FFBADAD8-44A0-413A-8309-BA2D259A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308299BD-1F6A-4CF9-A017-DC95A785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card-number">
            <a:extLst xmlns:a="http://schemas.openxmlformats.org/drawingml/2006/main">
              <a:ext uri="{FF2B5EF4-FFF2-40B4-BE49-F238E27FC236}">
                <a16:creationId xmlns:a16="http://schemas.microsoft.com/office/drawing/2014/main" id="{EAA507AC-C7F2-47CD-ACBD-660A5A177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10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timing">
            <a:extLst xmlns:a="http://schemas.openxmlformats.org/drawingml/2006/main">
              <a:ext uri="{FF2B5EF4-FFF2-40B4-BE49-F238E27FC236}">
                <a16:creationId xmlns:a16="http://schemas.microsoft.com/office/drawing/2014/main" id="{DD99F8AE-89D3-4CDF-A093-92F04053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7:09–7:55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accent-bar">
            <a:extLst xmlns:a="http://schemas.openxmlformats.org/drawingml/2006/main">
              <a:ext uri="{FF2B5EF4-FFF2-40B4-BE49-F238E27FC236}">
                <a16:creationId xmlns:a16="http://schemas.microsoft.com/office/drawing/2014/main" id="{4A1F62C0-3EB3-40E9-8DFC-BDC3B08E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3712AE-4D43-44E6-B9C5-B8DC0A1A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Additional Project — Food Expense Tracker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cue-label">
            <a:extLst xmlns:a="http://schemas.openxmlformats.org/drawingml/2006/main">
              <a:ext uri="{FF2B5EF4-FFF2-40B4-BE49-F238E27FC236}">
                <a16:creationId xmlns:a16="http://schemas.microsoft.com/office/drawing/2014/main" id="{4F578ADB-9B8C-421B-BBCA-5FFDBC60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cue-dot-0">
            <a:extLst xmlns:a="http://schemas.openxmlformats.org/drawingml/2006/main">
              <a:ext uri="{FF2B5EF4-FFF2-40B4-BE49-F238E27FC236}">
                <a16:creationId xmlns:a16="http://schemas.microsoft.com/office/drawing/2014/main" id="{E13D934C-8534-409F-AC36-674CFFEC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cue-0">
            <a:extLst xmlns:a="http://schemas.openxmlformats.org/drawingml/2006/main">
              <a:ext uri="{FF2B5EF4-FFF2-40B4-BE49-F238E27FC236}">
                <a16:creationId xmlns:a16="http://schemas.microsoft.com/office/drawing/2014/main" id="{6257A85F-747C-4BCB-86C2-DC74561A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Programming I project — Python + Tkinter desktop app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cue-dot-1">
            <a:extLst xmlns:a="http://schemas.openxmlformats.org/drawingml/2006/main">
              <a:ext uri="{FF2B5EF4-FFF2-40B4-BE49-F238E27FC236}">
                <a16:creationId xmlns:a16="http://schemas.microsoft.com/office/drawing/2014/main" id="{965AC885-A7CF-4887-831C-A04F5EA1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cue-1">
            <a:extLst xmlns:a="http://schemas.openxmlformats.org/drawingml/2006/main">
              <a:ext uri="{FF2B5EF4-FFF2-40B4-BE49-F238E27FC236}">
                <a16:creationId xmlns:a16="http://schemas.microsoft.com/office/drawing/2014/main" id="{B27D6F37-19F0-45E5-AD58-EA061D8E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Add, edit, delete, filter, sort, and search expenses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cue-dot-2">
            <a:extLst xmlns:a="http://schemas.openxmlformats.org/drawingml/2006/main">
              <a:ext uri="{FF2B5EF4-FFF2-40B4-BE49-F238E27FC236}">
                <a16:creationId xmlns:a16="http://schemas.microsoft.com/office/drawing/2014/main" id="{D369FACE-3D49-4D20-AC6C-5A105BD9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cue-2">
            <a:extLst xmlns:a="http://schemas.openxmlformats.org/drawingml/2006/main">
              <a:ext uri="{FF2B5EF4-FFF2-40B4-BE49-F238E27FC236}">
                <a16:creationId xmlns:a16="http://schemas.microsoft.com/office/drawing/2014/main" id="{FE56034E-04F3-47FF-94A4-DF12C91A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JSON storage, input validation, category totals, and CSV export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cue-dot-3">
            <a:extLst xmlns:a="http://schemas.openxmlformats.org/drawingml/2006/main">
              <a:ext uri="{FF2B5EF4-FFF2-40B4-BE49-F238E27FC236}">
                <a16:creationId xmlns:a16="http://schemas.microsoft.com/office/drawing/2014/main" id="{E884162C-9F36-4C78-984D-C96B025F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cue-3">
            <a:extLst xmlns:a="http://schemas.openxmlformats.org/drawingml/2006/main">
              <a:ext uri="{FF2B5EF4-FFF2-40B4-BE49-F238E27FC236}">
                <a16:creationId xmlns:a16="http://schemas.microsoft.com/office/drawing/2014/main" id="{A1A93F7B-345E-423A-A426-8DEB8409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Shows practical software and data-handling skills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E00B82-28AA-4972-892C-74E565DB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10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footer">
            <a:extLst xmlns:a="http://schemas.openxmlformats.org/drawingml/2006/main">
              <a:ext uri="{FF2B5EF4-FFF2-40B4-BE49-F238E27FC236}">
                <a16:creationId xmlns:a16="http://schemas.microsoft.com/office/drawing/2014/main" id="{69670778-E1D1-4B3A-96BC-ECEDD612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02889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337D26F6-3417-4C90-BDA5-62C692A5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5DA098C7-5E1C-421A-8430-F7841FF3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card-number">
            <a:extLst xmlns:a="http://schemas.openxmlformats.org/drawingml/2006/main">
              <a:ext uri="{FF2B5EF4-FFF2-40B4-BE49-F238E27FC236}">
                <a16:creationId xmlns:a16="http://schemas.microsoft.com/office/drawing/2014/main" id="{0DFA293B-342C-47E6-A4A8-E19CB14F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11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timing">
            <a:extLst xmlns:a="http://schemas.openxmlformats.org/drawingml/2006/main">
              <a:ext uri="{FF2B5EF4-FFF2-40B4-BE49-F238E27FC236}">
                <a16:creationId xmlns:a16="http://schemas.microsoft.com/office/drawing/2014/main" id="{E4D32A79-30E7-4FE0-9F44-3CB55741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7:55–8:36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accent-bar">
            <a:extLst xmlns:a="http://schemas.openxmlformats.org/drawingml/2006/main">
              <a:ext uri="{FF2B5EF4-FFF2-40B4-BE49-F238E27FC236}">
                <a16:creationId xmlns:a16="http://schemas.microsoft.com/office/drawing/2014/main" id="{4C6C928A-BF5B-477D-A762-DE9D4076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975D18-323B-4B13-93A1-8182A2FC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Additional Project — MAKEDA (Queen of Sheba)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cue-label">
            <a:extLst xmlns:a="http://schemas.openxmlformats.org/drawingml/2006/main">
              <a:ext uri="{FF2B5EF4-FFF2-40B4-BE49-F238E27FC236}">
                <a16:creationId xmlns:a16="http://schemas.microsoft.com/office/drawing/2014/main" id="{36F378F7-2501-4A3D-966E-40A72FA0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cue-dot-0">
            <a:extLst xmlns:a="http://schemas.openxmlformats.org/drawingml/2006/main">
              <a:ext uri="{FF2B5EF4-FFF2-40B4-BE49-F238E27FC236}">
                <a16:creationId xmlns:a16="http://schemas.microsoft.com/office/drawing/2014/main" id="{0930A926-0B0A-4F02-A1EC-8F54F65F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cue-0">
            <a:extLst xmlns:a="http://schemas.openxmlformats.org/drawingml/2006/main">
              <a:ext uri="{FF2B5EF4-FFF2-40B4-BE49-F238E27FC236}">
                <a16:creationId xmlns:a16="http://schemas.microsoft.com/office/drawing/2014/main" id="{5EC45883-CA4E-4BF5-A910-3C41F983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Shopify e-commerce project: brand storytelling, product organization, mobile usability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cue-dot-1">
            <a:extLst xmlns:a="http://schemas.openxmlformats.org/drawingml/2006/main">
              <a:ext uri="{FF2B5EF4-FFF2-40B4-BE49-F238E27FC236}">
                <a16:creationId xmlns:a16="http://schemas.microsoft.com/office/drawing/2014/main" id="{011BCA21-85E6-4C03-A537-2501C4B4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cue-1">
            <a:extLst xmlns:a="http://schemas.openxmlformats.org/drawingml/2006/main">
              <a:ext uri="{FF2B5EF4-FFF2-40B4-BE49-F238E27FC236}">
                <a16:creationId xmlns:a16="http://schemas.microsoft.com/office/drawing/2014/main" id="{B6EB5CE7-3FB0-4FCB-87A5-BDD38DB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E-commerce security awareness: secure checkout, MFA, and privacy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cue-dot-2">
            <a:extLst xmlns:a="http://schemas.openxmlformats.org/drawingml/2006/main">
              <a:ext uri="{FF2B5EF4-FFF2-40B4-BE49-F238E27FC236}">
                <a16:creationId xmlns:a16="http://schemas.microsoft.com/office/drawing/2014/main" id="{5D31B721-CF01-4041-AB78-3A27FA47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cue-2">
            <a:extLst xmlns:a="http://schemas.openxmlformats.org/drawingml/2006/main">
              <a:ext uri="{FF2B5EF4-FFF2-40B4-BE49-F238E27FC236}">
                <a16:creationId xmlns:a16="http://schemas.microsoft.com/office/drawing/2014/main" id="{C650B6DB-9F9B-4688-BCE1-04029E41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Bridges technical and business needs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cue-dot-3">
            <a:extLst xmlns:a="http://schemas.openxmlformats.org/drawingml/2006/main">
              <a:ext uri="{FF2B5EF4-FFF2-40B4-BE49-F238E27FC236}">
                <a16:creationId xmlns:a16="http://schemas.microsoft.com/office/drawing/2014/main" id="{8AA006DA-0B81-4F0D-9C4B-EF0FB54C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cue-3">
            <a:extLst xmlns:a="http://schemas.openxmlformats.org/drawingml/2006/main">
              <a:ext uri="{FF2B5EF4-FFF2-40B4-BE49-F238E27FC236}">
                <a16:creationId xmlns:a16="http://schemas.microsoft.com/office/drawing/2014/main" id="{87C81C3B-BA8C-4A9B-B2AA-D74D06FC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Connects to RetailHub: online stores must protect customers, data, payments, and trust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6FEA91-F002-4C9D-A700-5ED97E92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11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footer">
            <a:extLst xmlns:a="http://schemas.openxmlformats.org/drawingml/2006/main">
              <a:ext uri="{FF2B5EF4-FFF2-40B4-BE49-F238E27FC236}">
                <a16:creationId xmlns:a16="http://schemas.microsoft.com/office/drawing/2014/main" id="{5249C161-B5A8-43B2-B9ED-67E9863A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17455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5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03869F44-5328-4D8A-A539-B2EFFD79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655FE54E-0CE3-4D24-B0AD-0D90BAE9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card-number">
            <a:extLst xmlns:a="http://schemas.openxmlformats.org/drawingml/2006/main">
              <a:ext uri="{FF2B5EF4-FFF2-40B4-BE49-F238E27FC236}">
                <a16:creationId xmlns:a16="http://schemas.microsoft.com/office/drawing/2014/main" id="{97CBEE4B-D356-4474-8F03-EA89046F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timing">
            <a:extLst xmlns:a="http://schemas.openxmlformats.org/drawingml/2006/main">
              <a:ext uri="{FF2B5EF4-FFF2-40B4-BE49-F238E27FC236}">
                <a16:creationId xmlns:a16="http://schemas.microsoft.com/office/drawing/2014/main" id="{3C0591F9-44D3-430A-8855-62BE95B7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8:36–9:08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accent-bar">
            <a:extLst xmlns:a="http://schemas.openxmlformats.org/drawingml/2006/main">
              <a:ext uri="{FF2B5EF4-FFF2-40B4-BE49-F238E27FC236}">
                <a16:creationId xmlns:a16="http://schemas.microsoft.com/office/drawing/2014/main" id="{E2466BF4-AE4E-4CA8-B792-C8B3CAEE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29228B-A618-481D-9218-B3DBF86C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Live GitHub Portfolio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cue-label">
            <a:extLst xmlns:a="http://schemas.openxmlformats.org/drawingml/2006/main">
              <a:ext uri="{FF2B5EF4-FFF2-40B4-BE49-F238E27FC236}">
                <a16:creationId xmlns:a16="http://schemas.microsoft.com/office/drawing/2014/main" id="{F4582BD2-DCA5-4684-998D-A70AD81D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cue-dot-0">
            <a:extLst xmlns:a="http://schemas.openxmlformats.org/drawingml/2006/main">
              <a:ext uri="{FF2B5EF4-FFF2-40B4-BE49-F238E27FC236}">
                <a16:creationId xmlns:a16="http://schemas.microsoft.com/office/drawing/2014/main" id="{5DD9641D-6FBB-4CA9-AFB5-F00EAC4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cue-0">
            <a:extLst xmlns:a="http://schemas.openxmlformats.org/drawingml/2006/main">
              <a:ext uri="{FF2B5EF4-FFF2-40B4-BE49-F238E27FC236}">
                <a16:creationId xmlns:a16="http://schemas.microsoft.com/office/drawing/2014/main" id="{C15F2421-BE76-46CF-9A41-CCB4CC36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Brings all 8 projects together on one site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cue-dot-1">
            <a:extLst xmlns:a="http://schemas.openxmlformats.org/drawingml/2006/main">
              <a:ext uri="{FF2B5EF4-FFF2-40B4-BE49-F238E27FC236}">
                <a16:creationId xmlns:a16="http://schemas.microsoft.com/office/drawing/2014/main" id="{B57049E7-9D12-46CB-A650-D7E06E5D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cue-1">
            <a:extLst xmlns:a="http://schemas.openxmlformats.org/drawingml/2006/main">
              <a:ext uri="{FF2B5EF4-FFF2-40B4-BE49-F238E27FC236}">
                <a16:creationId xmlns:a16="http://schemas.microsoft.com/office/drawing/2014/main" id="{AB9335BD-9443-4C7A-95F7-53FCAB08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Recruiters can review project pages, documentation, diagrams, a live practice demo, GitHub work, and the MAKEDA showcase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cue-dot-2">
            <a:extLst xmlns:a="http://schemas.openxmlformats.org/drawingml/2006/main">
              <a:ext uri="{FF2B5EF4-FFF2-40B4-BE49-F238E27FC236}">
                <a16:creationId xmlns:a16="http://schemas.microsoft.com/office/drawing/2014/main" id="{008AD5DB-E5EA-4510-8FD9-BF0C39FF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cue-2">
            <a:extLst xmlns:a="http://schemas.openxmlformats.org/drawingml/2006/main">
              <a:ext uri="{FF2B5EF4-FFF2-40B4-BE49-F238E27FC236}">
                <a16:creationId xmlns:a16="http://schemas.microsoft.com/office/drawing/2014/main" id="{EB314057-ACB9-4BA7-8AA3-DA0AF9CE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Each project: problem → approach → tools/concepts → outcome or recommendation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cue-dot-3">
            <a:extLst xmlns:a="http://schemas.openxmlformats.org/drawingml/2006/main">
              <a:ext uri="{FF2B5EF4-FFF2-40B4-BE49-F238E27FC236}">
                <a16:creationId xmlns:a16="http://schemas.microsoft.com/office/drawing/2014/main" id="{18B0F2A8-2D5E-4BCF-85B4-A4132C24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cue-3">
            <a:extLst xmlns:a="http://schemas.openxmlformats.org/drawingml/2006/main">
              <a:ext uri="{FF2B5EF4-FFF2-40B4-BE49-F238E27FC236}">
                <a16:creationId xmlns:a16="http://schemas.microsoft.com/office/drawing/2014/main" id="{CD4BDBBF-C5F4-4A25-BAD2-20292D54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Goal: easy to explore and easy to understand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656E9A-762C-4E1C-8BE2-6B1F519B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12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footer">
            <a:extLst xmlns:a="http://schemas.openxmlformats.org/drawingml/2006/main">
              <a:ext uri="{FF2B5EF4-FFF2-40B4-BE49-F238E27FC236}">
                <a16:creationId xmlns:a16="http://schemas.microsoft.com/office/drawing/2014/main" id="{1AD2E6AC-2844-40DD-9A71-612F19E9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8954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2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9CC70A88-6ABB-419D-A1AA-6DC7AA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B7B27D82-0568-4C45-B3DE-83BAB165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card-number">
            <a:extLst xmlns:a="http://schemas.openxmlformats.org/drawingml/2006/main">
              <a:ext uri="{FF2B5EF4-FFF2-40B4-BE49-F238E27FC236}">
                <a16:creationId xmlns:a16="http://schemas.microsoft.com/office/drawing/2014/main" id="{88D90571-A12E-4BFF-8526-3BA78C19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13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5" name="timing">
            <a:extLst xmlns:a="http://schemas.openxmlformats.org/drawingml/2006/main">
              <a:ext uri="{FF2B5EF4-FFF2-40B4-BE49-F238E27FC236}">
                <a16:creationId xmlns:a16="http://schemas.microsoft.com/office/drawing/2014/main" id="{458885A8-DBFA-4D80-A52A-EF32F8F1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9:08–9:32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accent-bar">
            <a:extLst xmlns:a="http://schemas.openxmlformats.org/drawingml/2006/main">
              <a:ext uri="{FF2B5EF4-FFF2-40B4-BE49-F238E27FC236}">
                <a16:creationId xmlns:a16="http://schemas.microsoft.com/office/drawing/2014/main" id="{224055B6-1B92-4799-A159-5144CCD4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885FBA-8DB7-4DC3-B7E5-A66FDAC0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Certifications &amp; Growth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cue-label">
            <a:extLst xmlns:a="http://schemas.openxmlformats.org/drawingml/2006/main">
              <a:ext uri="{FF2B5EF4-FFF2-40B4-BE49-F238E27FC236}">
                <a16:creationId xmlns:a16="http://schemas.microsoft.com/office/drawing/2014/main" id="{A8CF532C-8F3B-4C5A-9F66-9921B691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cue-dot-0">
            <a:extLst xmlns:a="http://schemas.openxmlformats.org/drawingml/2006/main">
              <a:ext uri="{FF2B5EF4-FFF2-40B4-BE49-F238E27FC236}">
                <a16:creationId xmlns:a16="http://schemas.microsoft.com/office/drawing/2014/main" id="{C381497C-F379-4AE1-A585-CD477176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cue-0">
            <a:extLst xmlns:a="http://schemas.openxmlformats.org/drawingml/2006/main">
              <a:ext uri="{FF2B5EF4-FFF2-40B4-BE49-F238E27FC236}">
                <a16:creationId xmlns:a16="http://schemas.microsoft.com/office/drawing/2014/main" id="{B51871B0-A0BB-4DCE-9C85-85F9AC27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Completing the Google Cybersecurity Professional Certificate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cue-dot-1">
            <a:extLst xmlns:a="http://schemas.openxmlformats.org/drawingml/2006/main">
              <a:ext uri="{FF2B5EF4-FFF2-40B4-BE49-F238E27FC236}">
                <a16:creationId xmlns:a16="http://schemas.microsoft.com/office/drawing/2014/main" id="{307E1785-2645-40B8-9093-5072CCF8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cue-1">
            <a:extLst xmlns:a="http://schemas.openxmlformats.org/drawingml/2006/main">
              <a:ext uri="{FF2B5EF4-FFF2-40B4-BE49-F238E27FC236}">
                <a16:creationId xmlns:a16="http://schemas.microsoft.com/office/drawing/2014/main" id="{658A9F0F-6980-4123-973C-78B15489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Preparing for CompTIA Security+ next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cue-dot-2">
            <a:extLst xmlns:a="http://schemas.openxmlformats.org/drawingml/2006/main">
              <a:ext uri="{FF2B5EF4-FFF2-40B4-BE49-F238E27FC236}">
                <a16:creationId xmlns:a16="http://schemas.microsoft.com/office/drawing/2014/main" id="{1127AF66-B893-419C-85B9-7DFE9DF7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cue-2">
            <a:extLst xmlns:a="http://schemas.openxmlformats.org/drawingml/2006/main">
              <a:ext uri="{FF2B5EF4-FFF2-40B4-BE49-F238E27FC236}">
                <a16:creationId xmlns:a16="http://schemas.microsoft.com/office/drawing/2014/main" id="{7A024011-F6D7-41E4-AB9D-F16720CA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Next: more SOC-focused projects and sharper incident response and monitoring skills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cue-dot-3">
            <a:extLst xmlns:a="http://schemas.openxmlformats.org/drawingml/2006/main">
              <a:ext uri="{FF2B5EF4-FFF2-40B4-BE49-F238E27FC236}">
                <a16:creationId xmlns:a16="http://schemas.microsoft.com/office/drawing/2014/main" id="{E883EC03-43F3-43D4-86DB-8A9E31D5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cue-3">
            <a:extLst xmlns:a="http://schemas.openxmlformats.org/drawingml/2006/main">
              <a:ext uri="{FF2B5EF4-FFF2-40B4-BE49-F238E27FC236}">
                <a16:creationId xmlns:a16="http://schemas.microsoft.com/office/drawing/2014/main" id="{EE0E1A7A-428A-4E0E-91B9-C7374677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Goal: contribute to a cybersecurity team in Dallas–Fort Worth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2CF8F0-E5D3-46E8-9021-F306BD65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13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footer">
            <a:extLst xmlns:a="http://schemas.openxmlformats.org/drawingml/2006/main">
              <a:ext uri="{FF2B5EF4-FFF2-40B4-BE49-F238E27FC236}">
                <a16:creationId xmlns:a16="http://schemas.microsoft.com/office/drawing/2014/main" id="{661D3750-798C-4D34-9D8B-8BF03931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15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8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9" name="content-panel">
            <a:extLst xmlns:a="http://schemas.openxmlformats.org/drawingml/2006/main">
              <a:ext uri="{FF2B5EF4-FFF2-40B4-BE49-F238E27FC236}">
                <a16:creationId xmlns:a16="http://schemas.microsoft.com/office/drawing/2014/main" id="{EEC99B70-4C97-48E4-BC58-21755DC9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0" y="533520"/>
            <a:ext cx="11048400" cy="5790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102B55"/>
          </a:solidFill>
          <a:ln xmlns:a="http://schemas.openxmlformats.org/drawingml/2006/main" w="9525">
            <a:solidFill>
              <a:srgbClr val="284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portfolio-label">
            <a:extLst xmlns:a="http://schemas.openxmlformats.org/drawingml/2006/main">
              <a:ext uri="{FF2B5EF4-FFF2-40B4-BE49-F238E27FC236}">
                <a16:creationId xmlns:a16="http://schemas.microsoft.com/office/drawing/2014/main" id="{224C4459-DD68-4470-B82E-24D0169A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905040"/>
            <a:ext cx="60476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AYALEW CHERENET  |  IT &amp; CYBERSECURITY PORTFOLIO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card-number">
            <a:extLst xmlns:a="http://schemas.openxmlformats.org/drawingml/2006/main">
              <a:ext uri="{FF2B5EF4-FFF2-40B4-BE49-F238E27FC236}">
                <a16:creationId xmlns:a16="http://schemas.microsoft.com/office/drawing/2014/main" id="{4A3595C8-510E-4CC8-BE91-82C785EC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276200"/>
            <a:ext cx="1523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14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timing">
            <a:extLst xmlns:a="http://schemas.openxmlformats.org/drawingml/2006/main">
              <a:ext uri="{FF2B5EF4-FFF2-40B4-BE49-F238E27FC236}">
                <a16:creationId xmlns:a16="http://schemas.microsoft.com/office/drawing/2014/main" id="{DBDA81BA-C4CB-48E8-BA5C-30D2C669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80" y="1276200"/>
            <a:ext cx="14281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00" b="1" u="none">
                <a:solidFill>
                  <a:srgbClr val="55C7F1"/>
                </a:solidFill>
                <a:latin typeface="Arial"/>
                <a:ea typeface="Arial"/>
                <a:cs typeface="Arial"/>
              </a:rPr>
              <a:t>9:32–10:00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accent-bar">
            <a:extLst xmlns:a="http://schemas.openxmlformats.org/drawingml/2006/main">
              <a:ext uri="{FF2B5EF4-FFF2-40B4-BE49-F238E27FC236}">
                <a16:creationId xmlns:a16="http://schemas.microsoft.com/office/drawing/2014/main" id="{82D9B644-3CE7-469A-8395-E890A8AB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676520"/>
            <a:ext cx="589680" cy="4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11520" rIns="90000" bIns="-1152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D362DB-EF5F-4A10-936E-6EB7438A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1952640"/>
            <a:ext cx="8762400" cy="95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F7FBFF"/>
                </a:solidFill>
                <a:latin typeface="Arial"/>
                <a:ea typeface="Arial"/>
                <a:cs typeface="Arial"/>
              </a:rPr>
              <a:t>Closing</a:t>
            </a:r>
            <a:endParaRPr sz="30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cue-label">
            <a:extLst xmlns:a="http://schemas.openxmlformats.org/drawingml/2006/main">
              <a:ext uri="{FF2B5EF4-FFF2-40B4-BE49-F238E27FC236}">
                <a16:creationId xmlns:a16="http://schemas.microsoft.com/office/drawing/2014/main" id="{EACBE634-3FCC-4533-8433-1980B863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3162240"/>
            <a:ext cx="247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cue-dot-0">
            <a:extLst xmlns:a="http://schemas.openxmlformats.org/drawingml/2006/main">
              <a:ext uri="{FF2B5EF4-FFF2-40B4-BE49-F238E27FC236}">
                <a16:creationId xmlns:a16="http://schemas.microsoft.com/office/drawing/2014/main" id="{6681763A-8C16-4711-80C3-4D62D9A5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367668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cue-0">
            <a:extLst xmlns:a="http://schemas.openxmlformats.org/drawingml/2006/main">
              <a:ext uri="{FF2B5EF4-FFF2-40B4-BE49-F238E27FC236}">
                <a16:creationId xmlns:a16="http://schemas.microsoft.com/office/drawing/2014/main" id="{9DC4D1C2-D226-4865-9713-DC2DBE9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356220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Portfolio = more than school assignments — it is career preparation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cue-dot-1">
            <a:extLst xmlns:a="http://schemas.openxmlformats.org/drawingml/2006/main">
              <a:ext uri="{FF2B5EF4-FFF2-40B4-BE49-F238E27FC236}">
                <a16:creationId xmlns:a16="http://schemas.microsoft.com/office/drawing/2014/main" id="{7E10CABA-8A2E-47F6-B1E4-30BCF4CA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27680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cue-1">
            <a:extLst xmlns:a="http://schemas.openxmlformats.org/drawingml/2006/main">
              <a:ext uri="{FF2B5EF4-FFF2-40B4-BE49-F238E27FC236}">
                <a16:creationId xmlns:a16="http://schemas.microsoft.com/office/drawing/2014/main" id="{F0230758-55AA-4AA6-8A5C-949372AC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16232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Ready to learn from experienced professionals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cue-dot-2">
            <a:extLst xmlns:a="http://schemas.openxmlformats.org/drawingml/2006/main">
              <a:ext uri="{FF2B5EF4-FFF2-40B4-BE49-F238E27FC236}">
                <a16:creationId xmlns:a16="http://schemas.microsoft.com/office/drawing/2014/main" id="{CD42B79F-F503-489B-A88E-602CD232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487692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cue-2">
            <a:extLst xmlns:a="http://schemas.openxmlformats.org/drawingml/2006/main">
              <a:ext uri="{FF2B5EF4-FFF2-40B4-BE49-F238E27FC236}">
                <a16:creationId xmlns:a16="http://schemas.microsoft.com/office/drawing/2014/main" id="{9808FBAE-7670-442C-84B2-FA3EB184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476244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Bring strong documentation and attention to detail as a SOC Analyst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cue-dot-3">
            <a:extLst xmlns:a="http://schemas.openxmlformats.org/drawingml/2006/main">
              <a:ext uri="{FF2B5EF4-FFF2-40B4-BE49-F238E27FC236}">
                <a16:creationId xmlns:a16="http://schemas.microsoft.com/office/drawing/2014/main" id="{D572D630-E192-42F7-B17D-BF63AB57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880" y="5477040"/>
            <a:ext cx="84960" cy="849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4B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2480" tIns="15840" rIns="42480" bIns="158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cue-3">
            <a:extLst xmlns:a="http://schemas.openxmlformats.org/drawingml/2006/main">
              <a:ext uri="{FF2B5EF4-FFF2-40B4-BE49-F238E27FC236}">
                <a16:creationId xmlns:a16="http://schemas.microsoft.com/office/drawing/2014/main" id="{CDC009D8-439B-4BD1-B84B-CBE805F4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440" y="5362560"/>
            <a:ext cx="8524080" cy="561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C9D8ED"/>
                </a:solidFill>
                <a:latin typeface="Arial"/>
                <a:ea typeface="Arial"/>
                <a:cs typeface="Arial"/>
              </a:rPr>
              <a:t>Thank the audience and invite questions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E6BBFE-FFFA-4FA6-AD40-96E05D84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160" y="4467240"/>
            <a:ext cx="1046880" cy="57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2320" b="1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14 / 14</a:t>
            </a:r>
            <a:endParaRPr sz="23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footer">
            <a:extLst xmlns:a="http://schemas.openxmlformats.org/drawingml/2006/main">
              <a:ext uri="{FF2B5EF4-FFF2-40B4-BE49-F238E27FC236}">
                <a16:creationId xmlns:a16="http://schemas.microsoft.com/office/drawing/2014/main" id="{F39172A6-6203-4939-AD7F-03B26B2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720" y="5867280"/>
            <a:ext cx="4571280" cy="170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6F88AB"/>
                </a:solidFill>
                <a:latin typeface="Arial"/>
                <a:ea typeface="Arial"/>
                <a:cs typeface="Arial"/>
              </a:rPr>
              <a:t>Presentation Flashcards  •  10-minute talk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67200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2026-09-01T17:07:05.6540000Z</dcterms:created>
  <dcterms:modified xsi:type="dcterms:W3CDTF">2026-09-01T17:07:05.6540000Z</dcterms:modified>
</coreProperties>
</file>